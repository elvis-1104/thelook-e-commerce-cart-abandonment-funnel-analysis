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5143500" cy="9144000"/>
  <p:embeddedFontLst>
    <p:embeddedFont>
      <p:font typeface="Roboto"/>
      <p:regular r:id="rId15"/>
      <p:bold r:id="rId16"/>
      <p:italic r:id="rId17"/>
      <p:boldItalic r:id="rId18"/>
    </p:embeddedFont>
    <p:embeddedFont>
      <p:font typeface="Roboto Medium"/>
      <p:regular r:id="rId19"/>
      <p:bold r:id="rId20"/>
      <p:italic r:id="rId21"/>
      <p:boldItalic r:id="rId22"/>
    </p:embeddedFont>
    <p:embeddedFont>
      <p:font typeface="Roboto Light"/>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Medium-bold.fntdata"/><Relationship Id="rId22" Type="http://schemas.openxmlformats.org/officeDocument/2006/relationships/font" Target="fonts/RobotoMedium-boldItalic.fntdata"/><Relationship Id="rId21" Type="http://schemas.openxmlformats.org/officeDocument/2006/relationships/font" Target="fonts/RobotoMedium-italic.fntdata"/><Relationship Id="rId24" Type="http://schemas.openxmlformats.org/officeDocument/2006/relationships/font" Target="fonts/RobotoLight-bold.fntdata"/><Relationship Id="rId23" Type="http://schemas.openxmlformats.org/officeDocument/2006/relationships/font" Target="fonts/RobotoLight-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Light-boldItalic.fntdata"/><Relationship Id="rId25" Type="http://schemas.openxmlformats.org/officeDocument/2006/relationships/font" Target="fonts/RobotoLight-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Roboto-regular.fntdata"/><Relationship Id="rId14" Type="http://schemas.openxmlformats.org/officeDocument/2006/relationships/slide" Target="slides/slide10.xml"/><Relationship Id="rId17" Type="http://schemas.openxmlformats.org/officeDocument/2006/relationships/font" Target="fonts/Roboto-italic.fntdata"/><Relationship Id="rId16" Type="http://schemas.openxmlformats.org/officeDocument/2006/relationships/font" Target="fonts/Roboto-bold.fntdata"/><Relationship Id="rId19" Type="http://schemas.openxmlformats.org/officeDocument/2006/relationships/font" Target="fonts/RobotoMedium-regular.fntdata"/><Relationship Id="rId18" Type="http://schemas.openxmlformats.org/officeDocument/2006/relationships/font" Target="fonts/Robo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pic>
        <p:nvPicPr>
          <p:cNvPr descr="preencoded.png" id="11" name="Google Shape;11;p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2" name="Google Shape;12;p2"/>
          <p:cNvSpPr/>
          <p:nvPr/>
        </p:nvSpPr>
        <p:spPr>
          <a:xfrm>
            <a:off x="0" y="0"/>
            <a:ext cx="9144000" cy="5143500"/>
          </a:xfrm>
          <a:prstGeom prst="rect">
            <a:avLst/>
          </a:prstGeom>
          <a:solidFill>
            <a:srgbClr val="00001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pic>
        <p:nvPicPr>
          <p:cNvPr descr="preencoded.png" id="14" name="Google Shape;14;p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5" name="Google Shape;15;p3"/>
          <p:cNvSpPr/>
          <p:nvPr/>
        </p:nvSpPr>
        <p:spPr>
          <a:xfrm>
            <a:off x="0" y="0"/>
            <a:ext cx="9144000" cy="5143500"/>
          </a:xfrm>
          <a:prstGeom prst="rect">
            <a:avLst/>
          </a:prstGeom>
          <a:solidFill>
            <a:srgbClr val="00001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6" name="Shape 16"/>
        <p:cNvGrpSpPr/>
        <p:nvPr/>
      </p:nvGrpSpPr>
      <p:grpSpPr>
        <a:xfrm>
          <a:off x="0" y="0"/>
          <a:ext cx="0" cy="0"/>
          <a:chOff x="0" y="0"/>
          <a:chExt cx="0" cy="0"/>
        </a:xfrm>
      </p:grpSpPr>
      <p:pic>
        <p:nvPicPr>
          <p:cNvPr descr="preencoded.png" id="17" name="Google Shape;17;p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8" name="Google Shape;18;p4"/>
          <p:cNvSpPr/>
          <p:nvPr/>
        </p:nvSpPr>
        <p:spPr>
          <a:xfrm>
            <a:off x="0" y="0"/>
            <a:ext cx="9144000" cy="5143500"/>
          </a:xfrm>
          <a:prstGeom prst="rect">
            <a:avLst/>
          </a:prstGeom>
          <a:solidFill>
            <a:srgbClr val="00001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9" name="Shape 19"/>
        <p:cNvGrpSpPr/>
        <p:nvPr/>
      </p:nvGrpSpPr>
      <p:grpSpPr>
        <a:xfrm>
          <a:off x="0" y="0"/>
          <a:ext cx="0" cy="0"/>
          <a:chOff x="0" y="0"/>
          <a:chExt cx="0" cy="0"/>
        </a:xfrm>
      </p:grpSpPr>
      <p:pic>
        <p:nvPicPr>
          <p:cNvPr descr="preencoded.png" id="20" name="Google Shape;20;p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1" name="Google Shape;21;p5"/>
          <p:cNvSpPr/>
          <p:nvPr/>
        </p:nvSpPr>
        <p:spPr>
          <a:xfrm>
            <a:off x="0" y="0"/>
            <a:ext cx="9144000" cy="5143500"/>
          </a:xfrm>
          <a:prstGeom prst="rect">
            <a:avLst/>
          </a:prstGeom>
          <a:solidFill>
            <a:srgbClr val="00001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pic>
        <p:nvPicPr>
          <p:cNvPr descr="preencoded.png" id="23" name="Google Shape;23;p6"/>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4" name="Google Shape;24;p6"/>
          <p:cNvSpPr/>
          <p:nvPr/>
        </p:nvSpPr>
        <p:spPr>
          <a:xfrm>
            <a:off x="0" y="0"/>
            <a:ext cx="9144000" cy="5143500"/>
          </a:xfrm>
          <a:prstGeom prst="rect">
            <a:avLst/>
          </a:prstGeom>
          <a:solidFill>
            <a:srgbClr val="00001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5" name="Shape 25"/>
        <p:cNvGrpSpPr/>
        <p:nvPr/>
      </p:nvGrpSpPr>
      <p:grpSpPr>
        <a:xfrm>
          <a:off x="0" y="0"/>
          <a:ext cx="0" cy="0"/>
          <a:chOff x="0" y="0"/>
          <a:chExt cx="0" cy="0"/>
        </a:xfrm>
      </p:grpSpPr>
      <p:pic>
        <p:nvPicPr>
          <p:cNvPr descr="preencoded.png" id="26" name="Google Shape;26;p7"/>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7" name="Google Shape;27;p7"/>
          <p:cNvSpPr/>
          <p:nvPr/>
        </p:nvSpPr>
        <p:spPr>
          <a:xfrm>
            <a:off x="0" y="0"/>
            <a:ext cx="9144000" cy="5143500"/>
          </a:xfrm>
          <a:prstGeom prst="rect">
            <a:avLst/>
          </a:prstGeom>
          <a:solidFill>
            <a:srgbClr val="00001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8" name="Shape 28"/>
        <p:cNvGrpSpPr/>
        <p:nvPr/>
      </p:nvGrpSpPr>
      <p:grpSpPr>
        <a:xfrm>
          <a:off x="0" y="0"/>
          <a:ext cx="0" cy="0"/>
          <a:chOff x="0" y="0"/>
          <a:chExt cx="0" cy="0"/>
        </a:xfrm>
      </p:grpSpPr>
      <p:pic>
        <p:nvPicPr>
          <p:cNvPr descr="preencoded.png" id="29" name="Google Shape;29;p8"/>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0" name="Google Shape;30;p8"/>
          <p:cNvSpPr/>
          <p:nvPr/>
        </p:nvSpPr>
        <p:spPr>
          <a:xfrm>
            <a:off x="0" y="0"/>
            <a:ext cx="9144000" cy="5143500"/>
          </a:xfrm>
          <a:prstGeom prst="rect">
            <a:avLst/>
          </a:prstGeom>
          <a:solidFill>
            <a:srgbClr val="00001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1" name="Shape 31"/>
        <p:cNvGrpSpPr/>
        <p:nvPr/>
      </p:nvGrpSpPr>
      <p:grpSpPr>
        <a:xfrm>
          <a:off x="0" y="0"/>
          <a:ext cx="0" cy="0"/>
          <a:chOff x="0" y="0"/>
          <a:chExt cx="0" cy="0"/>
        </a:xfrm>
      </p:grpSpPr>
      <p:pic>
        <p:nvPicPr>
          <p:cNvPr descr="preencoded.png" id="32" name="Google Shape;32;p9"/>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3" name="Google Shape;33;p9"/>
          <p:cNvSpPr/>
          <p:nvPr/>
        </p:nvSpPr>
        <p:spPr>
          <a:xfrm>
            <a:off x="0" y="0"/>
            <a:ext cx="9144000" cy="5143500"/>
          </a:xfrm>
          <a:prstGeom prst="rect">
            <a:avLst/>
          </a:prstGeom>
          <a:solidFill>
            <a:srgbClr val="00001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4" name="Shape 34"/>
        <p:cNvGrpSpPr/>
        <p:nvPr/>
      </p:nvGrpSpPr>
      <p:grpSpPr>
        <a:xfrm>
          <a:off x="0" y="0"/>
          <a:ext cx="0" cy="0"/>
          <a:chOff x="0" y="0"/>
          <a:chExt cx="0" cy="0"/>
        </a:xfrm>
      </p:grpSpPr>
      <p:pic>
        <p:nvPicPr>
          <p:cNvPr descr="preencoded.png" id="35" name="Google Shape;35;p10"/>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6" name="Google Shape;36;p10"/>
          <p:cNvSpPr/>
          <p:nvPr/>
        </p:nvSpPr>
        <p:spPr>
          <a:xfrm>
            <a:off x="0" y="0"/>
            <a:ext cx="9144000" cy="5143500"/>
          </a:xfrm>
          <a:prstGeom prst="rect">
            <a:avLst/>
          </a:prstGeom>
          <a:solidFill>
            <a:srgbClr val="00001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37" name="Shape 37"/>
        <p:cNvGrpSpPr/>
        <p:nvPr/>
      </p:nvGrpSpPr>
      <p:grpSpPr>
        <a:xfrm>
          <a:off x="0" y="0"/>
          <a:ext cx="0" cy="0"/>
          <a:chOff x="0" y="0"/>
          <a:chExt cx="0" cy="0"/>
        </a:xfrm>
      </p:grpSpPr>
      <p:pic>
        <p:nvPicPr>
          <p:cNvPr descr="preencoded.png" id="38" name="Google Shape;38;p11"/>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9" name="Google Shape;39;p11"/>
          <p:cNvSpPr/>
          <p:nvPr/>
        </p:nvSpPr>
        <p:spPr>
          <a:xfrm>
            <a:off x="0" y="0"/>
            <a:ext cx="9144000" cy="5143500"/>
          </a:xfrm>
          <a:prstGeom prst="rect">
            <a:avLst/>
          </a:prstGeom>
          <a:solidFill>
            <a:srgbClr val="00001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0" name="Shape 4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pic>
        <p:nvPicPr>
          <p:cNvPr descr="preencoded.png" id="46" name="Google Shape;46;p13"/>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47" name="Google Shape;47;p13"/>
          <p:cNvSpPr/>
          <p:nvPr/>
        </p:nvSpPr>
        <p:spPr>
          <a:xfrm>
            <a:off x="496119" y="1185416"/>
            <a:ext cx="2080766" cy="233214"/>
          </a:xfrm>
          <a:prstGeom prst="roundRect">
            <a:avLst>
              <a:gd fmla="val 17872" name="adj"/>
            </a:avLst>
          </a:prstGeom>
          <a:solidFill>
            <a:srgbClr val="0F16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3"/>
          <p:cNvSpPr/>
          <p:nvPr/>
        </p:nvSpPr>
        <p:spPr>
          <a:xfrm>
            <a:off x="570533" y="1222623"/>
            <a:ext cx="2389138" cy="1588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FD0D8"/>
              </a:buClr>
              <a:buSzPts val="750"/>
              <a:buFont typeface="Roboto"/>
              <a:buNone/>
            </a:pPr>
            <a:r>
              <a:rPr b="0" i="0" lang="en-US" sz="750" u="none" cap="none" strike="noStrike">
                <a:solidFill>
                  <a:srgbClr val="CFD0D8"/>
                </a:solidFill>
                <a:latin typeface="Roboto"/>
                <a:ea typeface="Roboto"/>
                <a:cs typeface="Roboto"/>
                <a:sym typeface="Roboto"/>
              </a:rPr>
              <a:t>EXPLORATORY DATA ANALYSIS · MAY 2026</a:t>
            </a:r>
            <a:endParaRPr b="0" i="0" sz="750" u="none" cap="none" strike="noStrike"/>
          </a:p>
        </p:txBody>
      </p:sp>
      <p:sp>
        <p:nvSpPr>
          <p:cNvPr id="49" name="Google Shape;49;p13"/>
          <p:cNvSpPr/>
          <p:nvPr/>
        </p:nvSpPr>
        <p:spPr>
          <a:xfrm>
            <a:off x="496119" y="1468189"/>
            <a:ext cx="4722763" cy="77509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400"/>
              <a:buFont typeface="Roboto Medium"/>
              <a:buNone/>
            </a:pPr>
            <a:r>
              <a:rPr b="0" i="0" lang="en-US" sz="2400" u="none" cap="none" strike="noStrike">
                <a:solidFill>
                  <a:srgbClr val="FFFFFF"/>
                </a:solidFill>
                <a:latin typeface="Roboto Medium"/>
                <a:ea typeface="Roboto Medium"/>
                <a:cs typeface="Roboto Medium"/>
                <a:sym typeface="Roboto Medium"/>
              </a:rPr>
              <a:t>Cart Abandonment &amp; Checkout Funnel Analysis</a:t>
            </a:r>
            <a:endParaRPr b="0" i="0" sz="2400" u="none" cap="none" strike="noStrike"/>
          </a:p>
        </p:txBody>
      </p:sp>
      <p:sp>
        <p:nvSpPr>
          <p:cNvPr id="50" name="Google Shape;50;p13"/>
          <p:cNvSpPr/>
          <p:nvPr/>
        </p:nvSpPr>
        <p:spPr>
          <a:xfrm>
            <a:off x="496119" y="2429321"/>
            <a:ext cx="4722763" cy="152876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CFD0D8"/>
              </a:buClr>
              <a:buSzPts val="950"/>
              <a:buFont typeface="Roboto"/>
              <a:buNone/>
            </a:pPr>
            <a:r>
              <a:rPr b="0" i="0" lang="en-US" sz="950" u="none" cap="none" strike="noStrike">
                <a:solidFill>
                  <a:srgbClr val="CFD0D8"/>
                </a:solidFill>
                <a:latin typeface="Roboto"/>
                <a:ea typeface="Roboto"/>
                <a:cs typeface="Roboto"/>
                <a:sym typeface="Roboto"/>
              </a:rPr>
              <a:t>A comprehensive analysis of cart abandonment and checkout funnel drop-off behavior on </a:t>
            </a:r>
            <a:r>
              <a:rPr b="1" i="0" lang="en-US" sz="950" u="none" cap="none" strike="noStrike">
                <a:solidFill>
                  <a:srgbClr val="CFD0D8"/>
                </a:solidFill>
                <a:latin typeface="Roboto"/>
                <a:ea typeface="Roboto"/>
                <a:cs typeface="Roboto"/>
                <a:sym typeface="Roboto"/>
              </a:rPr>
              <a:t>TheLook</a:t>
            </a:r>
            <a:r>
              <a:rPr b="0" i="0" lang="en-US" sz="950" u="none" cap="none" strike="noStrike">
                <a:solidFill>
                  <a:srgbClr val="CFD0D8"/>
                </a:solidFill>
                <a:latin typeface="Roboto"/>
                <a:ea typeface="Roboto"/>
                <a:cs typeface="Roboto"/>
                <a:sym typeface="Roboto"/>
              </a:rPr>
              <a:t>, a fictitious e-commerce clothing retail platform developed by the Google Looker team. This report explores 14 analytical questions covering funnel behavior, customer segmentation, traffic channel attribution, product and pricing analysis, revenue quantification, and behavioral patterns.</a:t>
            </a:r>
            <a:endParaRPr b="0" i="0" sz="950" u="none" cap="none" strike="noStrike"/>
          </a:p>
          <a:p>
            <a:pPr indent="0" lvl="0" marL="0" marR="0" rtl="0" algn="l">
              <a:lnSpc>
                <a:spcPct val="133000"/>
              </a:lnSpc>
              <a:spcBef>
                <a:spcPts val="1050"/>
              </a:spcBef>
              <a:spcAft>
                <a:spcPts val="0"/>
              </a:spcAft>
              <a:buClr>
                <a:srgbClr val="CFD0D8"/>
              </a:buClr>
              <a:buSzPts val="950"/>
              <a:buFont typeface="Roboto"/>
              <a:buNone/>
            </a:pPr>
            <a:r>
              <a:rPr b="1" i="0" lang="en-US" sz="950" u="none" cap="none" strike="noStrike">
                <a:solidFill>
                  <a:srgbClr val="CFD0D8"/>
                </a:solidFill>
                <a:latin typeface="Roboto"/>
                <a:ea typeface="Roboto"/>
                <a:cs typeface="Roboto"/>
                <a:sym typeface="Roboto"/>
              </a:rPr>
              <a:t>Prepared by:</a:t>
            </a:r>
            <a:r>
              <a:rPr b="0" i="0" lang="en-US" sz="950" u="none" cap="none" strike="noStrike">
                <a:solidFill>
                  <a:srgbClr val="CFD0D8"/>
                </a:solidFill>
                <a:latin typeface="Roboto"/>
                <a:ea typeface="Roboto"/>
                <a:cs typeface="Roboto"/>
                <a:sym typeface="Roboto"/>
              </a:rPr>
              <a:t> Elvis George | Analyst · </a:t>
            </a:r>
            <a:r>
              <a:rPr b="1" i="0" lang="en-US" sz="950" u="none" cap="none" strike="noStrike">
                <a:solidFill>
                  <a:srgbClr val="CFD0D8"/>
                </a:solidFill>
                <a:latin typeface="Roboto"/>
                <a:ea typeface="Roboto"/>
                <a:cs typeface="Roboto"/>
                <a:sym typeface="Roboto"/>
              </a:rPr>
              <a:t>Dataset:</a:t>
            </a:r>
            <a:r>
              <a:rPr b="0" i="0" lang="en-US" sz="950" u="none" cap="none" strike="noStrike">
                <a:solidFill>
                  <a:srgbClr val="CFD0D8"/>
                </a:solidFill>
                <a:latin typeface="Roboto"/>
                <a:ea typeface="Roboto"/>
                <a:cs typeface="Roboto"/>
                <a:sym typeface="Roboto"/>
              </a:rPr>
              <a:t> Google BigQuery Public Dataset — TheLook E-Commerce</a:t>
            </a:r>
            <a:endParaRPr b="0" i="0" sz="9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4"/>
          <p:cNvSpPr/>
          <p:nvPr/>
        </p:nvSpPr>
        <p:spPr>
          <a:xfrm>
            <a:off x="457349" y="438745"/>
            <a:ext cx="1081385" cy="218703"/>
          </a:xfrm>
          <a:prstGeom prst="roundRect">
            <a:avLst>
              <a:gd fmla="val 17569" name="adj"/>
            </a:avLst>
          </a:prstGeom>
          <a:noFill/>
          <a:ln cap="flat" cmpd="sng" w="9525">
            <a:solidFill>
              <a:srgbClr val="5A6E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4"/>
          <p:cNvSpPr/>
          <p:nvPr/>
        </p:nvSpPr>
        <p:spPr>
          <a:xfrm>
            <a:off x="530721" y="477813"/>
            <a:ext cx="1391841" cy="140568"/>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5A6ED8"/>
              </a:buClr>
              <a:buSzPts val="700"/>
              <a:buFont typeface="Roboto"/>
              <a:buNone/>
            </a:pPr>
            <a:r>
              <a:rPr b="0" i="0" lang="en-US" sz="700" u="none" cap="none" strike="noStrike">
                <a:solidFill>
                  <a:srgbClr val="5A6ED8"/>
                </a:solidFill>
                <a:latin typeface="Roboto"/>
                <a:ea typeface="Roboto"/>
                <a:cs typeface="Roboto"/>
                <a:sym typeface="Roboto"/>
              </a:rPr>
              <a:t>EXECUTIVE SUMMARY</a:t>
            </a:r>
            <a:endParaRPr b="0" i="0" sz="700" u="none" cap="none" strike="noStrike"/>
          </a:p>
        </p:txBody>
      </p:sp>
      <p:sp>
        <p:nvSpPr>
          <p:cNvPr id="58" name="Google Shape;58;p14"/>
          <p:cNvSpPr/>
          <p:nvPr/>
        </p:nvSpPr>
        <p:spPr>
          <a:xfrm>
            <a:off x="457349" y="699567"/>
            <a:ext cx="3587502" cy="3573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250"/>
              <a:buFont typeface="Roboto Medium"/>
              <a:buNone/>
            </a:pPr>
            <a:r>
              <a:rPr b="0" i="0" lang="en-US" sz="2250" u="none" cap="none" strike="noStrike">
                <a:solidFill>
                  <a:srgbClr val="FFFFFF"/>
                </a:solidFill>
                <a:latin typeface="Roboto Medium"/>
                <a:ea typeface="Roboto Medium"/>
                <a:cs typeface="Roboto Medium"/>
                <a:sym typeface="Roboto Medium"/>
              </a:rPr>
              <a:t>Key Findings at a Glance</a:t>
            </a:r>
            <a:endParaRPr b="0" i="0" sz="2250" u="none" cap="none" strike="noStrike"/>
          </a:p>
        </p:txBody>
      </p:sp>
      <p:sp>
        <p:nvSpPr>
          <p:cNvPr id="59" name="Google Shape;59;p14"/>
          <p:cNvSpPr/>
          <p:nvPr/>
        </p:nvSpPr>
        <p:spPr>
          <a:xfrm>
            <a:off x="457349" y="1272183"/>
            <a:ext cx="4048795" cy="377354"/>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CFD0D8"/>
              </a:buClr>
              <a:buSzPts val="2950"/>
              <a:buFont typeface="Roboto Medium"/>
              <a:buNone/>
            </a:pPr>
            <a:r>
              <a:rPr b="0" i="0" lang="en-US" sz="2950" u="none" cap="none" strike="noStrike">
                <a:solidFill>
                  <a:srgbClr val="CFD0D8"/>
                </a:solidFill>
                <a:latin typeface="Roboto Medium"/>
                <a:ea typeface="Roboto Medium"/>
                <a:cs typeface="Roboto Medium"/>
                <a:sym typeface="Roboto Medium"/>
              </a:rPr>
              <a:t>32.08%</a:t>
            </a:r>
            <a:endParaRPr b="0" i="0" sz="2950" u="none" cap="none" strike="noStrike"/>
          </a:p>
        </p:txBody>
      </p:sp>
      <p:sp>
        <p:nvSpPr>
          <p:cNvPr id="60" name="Google Shape;60;p14"/>
          <p:cNvSpPr/>
          <p:nvPr/>
        </p:nvSpPr>
        <p:spPr>
          <a:xfrm>
            <a:off x="1767036" y="1785714"/>
            <a:ext cx="1429420" cy="178668"/>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CFD0D8"/>
              </a:buClr>
              <a:buSzPts val="1100"/>
              <a:buFont typeface="Roboto Medium"/>
              <a:buNone/>
            </a:pPr>
            <a:r>
              <a:rPr b="0" i="0" lang="en-US" sz="1100" u="none" cap="none" strike="noStrike">
                <a:solidFill>
                  <a:srgbClr val="CFD0D8"/>
                </a:solidFill>
                <a:latin typeface="Roboto Medium"/>
                <a:ea typeface="Roboto Medium"/>
                <a:cs typeface="Roboto Medium"/>
                <a:sym typeface="Roboto Medium"/>
              </a:rPr>
              <a:t>Cart-to-Purchase Rate</a:t>
            </a:r>
            <a:endParaRPr b="0" i="0" sz="1100" u="none" cap="none" strike="noStrike"/>
          </a:p>
        </p:txBody>
      </p:sp>
      <p:sp>
        <p:nvSpPr>
          <p:cNvPr id="61" name="Google Shape;61;p14"/>
          <p:cNvSpPr/>
          <p:nvPr/>
        </p:nvSpPr>
        <p:spPr>
          <a:xfrm>
            <a:off x="457349" y="2027634"/>
            <a:ext cx="4048795" cy="175840"/>
          </a:xfrm>
          <a:prstGeom prst="rect">
            <a:avLst/>
          </a:prstGeom>
          <a:noFill/>
          <a:ln>
            <a:noFill/>
          </a:ln>
        </p:spPr>
        <p:txBody>
          <a:bodyPr anchorCtr="0" anchor="t" bIns="0" lIns="0" spcFirstLastPara="1" rIns="0" wrap="square" tIns="0">
            <a:noAutofit/>
          </a:bodyPr>
          <a:lstStyle/>
          <a:p>
            <a:pPr indent="0" lvl="0" marL="0" marR="0" rtl="0" algn="ctr">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67.92% drop-off at the final checkout stage</a:t>
            </a:r>
            <a:endParaRPr b="0" i="0" sz="900" u="none" cap="none" strike="noStrike"/>
          </a:p>
        </p:txBody>
      </p:sp>
      <p:sp>
        <p:nvSpPr>
          <p:cNvPr id="62" name="Google Shape;62;p14"/>
          <p:cNvSpPr/>
          <p:nvPr/>
        </p:nvSpPr>
        <p:spPr>
          <a:xfrm>
            <a:off x="4637856" y="1272183"/>
            <a:ext cx="4048795" cy="377354"/>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CFD0D8"/>
              </a:buClr>
              <a:buSzPts val="2950"/>
              <a:buFont typeface="Roboto Medium"/>
              <a:buNone/>
            </a:pPr>
            <a:r>
              <a:rPr b="0" i="0" lang="en-US" sz="2950" u="none" cap="none" strike="noStrike">
                <a:solidFill>
                  <a:srgbClr val="CFD0D8"/>
                </a:solidFill>
                <a:latin typeface="Roboto Medium"/>
                <a:ea typeface="Roboto Medium"/>
                <a:cs typeface="Roboto Medium"/>
                <a:sym typeface="Roboto Medium"/>
              </a:rPr>
              <a:t>$756K</a:t>
            </a:r>
            <a:endParaRPr b="0" i="0" sz="2950" u="none" cap="none" strike="noStrike"/>
          </a:p>
        </p:txBody>
      </p:sp>
      <p:sp>
        <p:nvSpPr>
          <p:cNvPr id="63" name="Google Shape;63;p14"/>
          <p:cNvSpPr/>
          <p:nvPr/>
        </p:nvSpPr>
        <p:spPr>
          <a:xfrm>
            <a:off x="5947544" y="1785714"/>
            <a:ext cx="1429420" cy="178668"/>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CFD0D8"/>
              </a:buClr>
              <a:buSzPts val="1100"/>
              <a:buFont typeface="Roboto Medium"/>
              <a:buNone/>
            </a:pPr>
            <a:r>
              <a:rPr b="0" i="0" lang="en-US" sz="1100" u="none" cap="none" strike="noStrike">
                <a:solidFill>
                  <a:srgbClr val="CFD0D8"/>
                </a:solidFill>
                <a:latin typeface="Roboto Medium"/>
                <a:ea typeface="Roboto Medium"/>
                <a:cs typeface="Roboto Medium"/>
                <a:sym typeface="Roboto Medium"/>
              </a:rPr>
              <a:t>Total Revenue Lost</a:t>
            </a:r>
            <a:endParaRPr b="0" i="0" sz="1100" u="none" cap="none" strike="noStrike"/>
          </a:p>
        </p:txBody>
      </p:sp>
      <p:sp>
        <p:nvSpPr>
          <p:cNvPr id="64" name="Google Shape;64;p14"/>
          <p:cNvSpPr/>
          <p:nvPr/>
        </p:nvSpPr>
        <p:spPr>
          <a:xfrm>
            <a:off x="4637856" y="2027634"/>
            <a:ext cx="4048795" cy="175840"/>
          </a:xfrm>
          <a:prstGeom prst="rect">
            <a:avLst/>
          </a:prstGeom>
          <a:noFill/>
          <a:ln>
            <a:noFill/>
          </a:ln>
        </p:spPr>
        <p:txBody>
          <a:bodyPr anchorCtr="0" anchor="t" bIns="0" lIns="0" spcFirstLastPara="1" rIns="0" wrap="square" tIns="0">
            <a:noAutofit/>
          </a:bodyPr>
          <a:lstStyle/>
          <a:p>
            <a:pPr indent="0" lvl="0" marL="0" marR="0" rtl="0" algn="ctr">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Estimated total loss from cart abandonment</a:t>
            </a:r>
            <a:endParaRPr b="0" i="0" sz="900" u="none" cap="none" strike="noStrike"/>
          </a:p>
        </p:txBody>
      </p:sp>
      <p:sp>
        <p:nvSpPr>
          <p:cNvPr id="65" name="Google Shape;65;p14"/>
          <p:cNvSpPr/>
          <p:nvPr/>
        </p:nvSpPr>
        <p:spPr>
          <a:xfrm>
            <a:off x="457349" y="2471440"/>
            <a:ext cx="4048795" cy="377354"/>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CFD0D8"/>
              </a:buClr>
              <a:buSzPts val="2950"/>
              <a:buFont typeface="Roboto Medium"/>
              <a:buNone/>
            </a:pPr>
            <a:r>
              <a:rPr b="0" i="0" lang="en-US" sz="2950" u="none" cap="none" strike="noStrike">
                <a:solidFill>
                  <a:srgbClr val="CFD0D8"/>
                </a:solidFill>
                <a:latin typeface="Roboto Medium"/>
                <a:ea typeface="Roboto Medium"/>
                <a:cs typeface="Roboto Medium"/>
                <a:sym typeface="Roboto Medium"/>
              </a:rPr>
              <a:t>97.20%</a:t>
            </a:r>
            <a:endParaRPr b="0" i="0" sz="2950" u="none" cap="none" strike="noStrike"/>
          </a:p>
        </p:txBody>
      </p:sp>
      <p:sp>
        <p:nvSpPr>
          <p:cNvPr id="66" name="Google Shape;66;p14"/>
          <p:cNvSpPr/>
          <p:nvPr/>
        </p:nvSpPr>
        <p:spPr>
          <a:xfrm>
            <a:off x="1457920" y="2984971"/>
            <a:ext cx="2047652" cy="178668"/>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CFD0D8"/>
              </a:buClr>
              <a:buSzPts val="1100"/>
              <a:buFont typeface="Roboto Medium"/>
              <a:buNone/>
            </a:pPr>
            <a:r>
              <a:rPr b="0" i="0" lang="en-US" sz="1100" u="none" cap="none" strike="noStrike">
                <a:solidFill>
                  <a:srgbClr val="CFD0D8"/>
                </a:solidFill>
                <a:latin typeface="Roboto Medium"/>
                <a:ea typeface="Roboto Medium"/>
                <a:cs typeface="Roboto Medium"/>
                <a:sym typeface="Roboto Medium"/>
              </a:rPr>
              <a:t>First-Time Visitor Abandonment</a:t>
            </a:r>
            <a:endParaRPr b="0" i="0" sz="1100" u="none" cap="none" strike="noStrike"/>
          </a:p>
        </p:txBody>
      </p:sp>
      <p:sp>
        <p:nvSpPr>
          <p:cNvPr id="67" name="Google Shape;67;p14"/>
          <p:cNvSpPr/>
          <p:nvPr/>
        </p:nvSpPr>
        <p:spPr>
          <a:xfrm>
            <a:off x="457349" y="3226891"/>
            <a:ext cx="4048795" cy="175840"/>
          </a:xfrm>
          <a:prstGeom prst="rect">
            <a:avLst/>
          </a:prstGeom>
          <a:noFill/>
          <a:ln>
            <a:noFill/>
          </a:ln>
        </p:spPr>
        <p:txBody>
          <a:bodyPr anchorCtr="0" anchor="t" bIns="0" lIns="0" spcFirstLastPara="1" rIns="0" wrap="square" tIns="0">
            <a:noAutofit/>
          </a:bodyPr>
          <a:lstStyle/>
          <a:p>
            <a:pPr indent="0" lvl="0" marL="0" marR="0" rtl="0" algn="ctr">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vs. 87.69% for returning customers — a 10-point trust gap</a:t>
            </a:r>
            <a:endParaRPr b="0" i="0" sz="900" u="none" cap="none" strike="noStrike"/>
          </a:p>
        </p:txBody>
      </p:sp>
      <p:sp>
        <p:nvSpPr>
          <p:cNvPr id="68" name="Google Shape;68;p14"/>
          <p:cNvSpPr/>
          <p:nvPr/>
        </p:nvSpPr>
        <p:spPr>
          <a:xfrm>
            <a:off x="4637856" y="2471440"/>
            <a:ext cx="4048795" cy="377354"/>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CFD0D8"/>
              </a:buClr>
              <a:buSzPts val="2950"/>
              <a:buFont typeface="Roboto Medium"/>
              <a:buNone/>
            </a:pPr>
            <a:r>
              <a:rPr b="0" i="0" lang="en-US" sz="2950" u="none" cap="none" strike="noStrike">
                <a:solidFill>
                  <a:srgbClr val="CFD0D8"/>
                </a:solidFill>
                <a:latin typeface="Roboto Medium"/>
                <a:ea typeface="Roboto Medium"/>
                <a:cs typeface="Roboto Medium"/>
                <a:sym typeface="Roboto Medium"/>
              </a:rPr>
              <a:t>12,112</a:t>
            </a:r>
            <a:endParaRPr b="0" i="0" sz="2950" u="none" cap="none" strike="noStrike"/>
          </a:p>
        </p:txBody>
      </p:sp>
      <p:sp>
        <p:nvSpPr>
          <p:cNvPr id="69" name="Google Shape;69;p14"/>
          <p:cNvSpPr/>
          <p:nvPr/>
        </p:nvSpPr>
        <p:spPr>
          <a:xfrm>
            <a:off x="5712991" y="2984971"/>
            <a:ext cx="1898526" cy="178668"/>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CFD0D8"/>
              </a:buClr>
              <a:buSzPts val="1100"/>
              <a:buFont typeface="Roboto Medium"/>
              <a:buNone/>
            </a:pPr>
            <a:r>
              <a:rPr b="0" i="0" lang="en-US" sz="1100" u="none" cap="none" strike="noStrike">
                <a:solidFill>
                  <a:srgbClr val="CFD0D8"/>
                </a:solidFill>
                <a:latin typeface="Roboto Medium"/>
                <a:ea typeface="Roboto Medium"/>
                <a:cs typeface="Roboto Medium"/>
                <a:sym typeface="Roboto Medium"/>
              </a:rPr>
              <a:t>Abandoned Sessions in China</a:t>
            </a:r>
            <a:endParaRPr b="0" i="0" sz="1100" u="none" cap="none" strike="noStrike"/>
          </a:p>
        </p:txBody>
      </p:sp>
      <p:sp>
        <p:nvSpPr>
          <p:cNvPr id="70" name="Google Shape;70;p14"/>
          <p:cNvSpPr/>
          <p:nvPr/>
        </p:nvSpPr>
        <p:spPr>
          <a:xfrm>
            <a:off x="4637856" y="3226891"/>
            <a:ext cx="4048795" cy="175840"/>
          </a:xfrm>
          <a:prstGeom prst="rect">
            <a:avLst/>
          </a:prstGeom>
          <a:noFill/>
          <a:ln>
            <a:noFill/>
          </a:ln>
        </p:spPr>
        <p:txBody>
          <a:bodyPr anchorCtr="0" anchor="t" bIns="0" lIns="0" spcFirstLastPara="1" rIns="0" wrap="square" tIns="0">
            <a:noAutofit/>
          </a:bodyPr>
          <a:lstStyle/>
          <a:p>
            <a:pPr indent="0" lvl="0" marL="0" marR="0" rtl="0" algn="ctr">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Dominates geographically, suggesting localization gaps</a:t>
            </a:r>
            <a:endParaRPr b="0" i="0" sz="900" u="none" cap="none" strike="noStrike"/>
          </a:p>
        </p:txBody>
      </p:sp>
      <p:sp>
        <p:nvSpPr>
          <p:cNvPr id="71" name="Google Shape;71;p14"/>
          <p:cNvSpPr/>
          <p:nvPr/>
        </p:nvSpPr>
        <p:spPr>
          <a:xfrm>
            <a:off x="457349" y="3521273"/>
            <a:ext cx="2672804" cy="1183407"/>
          </a:xfrm>
          <a:prstGeom prst="roundRect">
            <a:avLst>
              <a:gd fmla="val 4059" name="adj"/>
            </a:avLst>
          </a:prstGeom>
          <a:solidFill>
            <a:srgbClr val="182567"/>
          </a:solidFill>
          <a:ln cap="flat" cmpd="sng" w="9525">
            <a:solidFill>
              <a:srgbClr val="313E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4"/>
          <p:cNvSpPr/>
          <p:nvPr/>
        </p:nvSpPr>
        <p:spPr>
          <a:xfrm>
            <a:off x="576411" y="3640336"/>
            <a:ext cx="1500634"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FD0D8"/>
              </a:buClr>
              <a:buSzPts val="1100"/>
              <a:buFont typeface="Roboto Medium"/>
              <a:buNone/>
            </a:pPr>
            <a:r>
              <a:rPr b="0" i="0" lang="en-US" sz="1100" u="none" cap="none" strike="noStrike">
                <a:solidFill>
                  <a:srgbClr val="CFD0D8"/>
                </a:solidFill>
                <a:latin typeface="Roboto Medium"/>
                <a:ea typeface="Roboto Medium"/>
                <a:cs typeface="Roboto Medium"/>
                <a:sym typeface="Roboto Medium"/>
              </a:rPr>
              <a:t>Platform-Wide Problem</a:t>
            </a:r>
            <a:endParaRPr b="0" i="0" sz="1100" u="none" cap="none" strike="noStrike"/>
          </a:p>
        </p:txBody>
      </p:sp>
      <p:sp>
        <p:nvSpPr>
          <p:cNvPr id="73" name="Google Shape;73;p14"/>
          <p:cNvSpPr/>
          <p:nvPr/>
        </p:nvSpPr>
        <p:spPr>
          <a:xfrm>
            <a:off x="576411" y="3882256"/>
            <a:ext cx="2434679" cy="70336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No traffic source, age group, gender, price range, or product category shows a statistically meaningful advantage — abandonment is universal across every segment.</a:t>
            </a:r>
            <a:endParaRPr b="0" i="0" sz="900" u="none" cap="none" strike="noStrike"/>
          </a:p>
        </p:txBody>
      </p:sp>
      <p:sp>
        <p:nvSpPr>
          <p:cNvPr id="74" name="Google Shape;74;p14"/>
          <p:cNvSpPr/>
          <p:nvPr/>
        </p:nvSpPr>
        <p:spPr>
          <a:xfrm>
            <a:off x="3235523" y="3521273"/>
            <a:ext cx="2672879" cy="1183407"/>
          </a:xfrm>
          <a:prstGeom prst="roundRect">
            <a:avLst>
              <a:gd fmla="val 4059" name="adj"/>
            </a:avLst>
          </a:prstGeom>
          <a:solidFill>
            <a:srgbClr val="182567"/>
          </a:solidFill>
          <a:ln cap="flat" cmpd="sng" w="9525">
            <a:solidFill>
              <a:srgbClr val="313E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4"/>
          <p:cNvSpPr/>
          <p:nvPr/>
        </p:nvSpPr>
        <p:spPr>
          <a:xfrm>
            <a:off x="3354586" y="3640336"/>
            <a:ext cx="1429420"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FD0D8"/>
              </a:buClr>
              <a:buSzPts val="1100"/>
              <a:buFont typeface="Roboto Medium"/>
              <a:buNone/>
            </a:pPr>
            <a:r>
              <a:rPr b="0" i="0" lang="en-US" sz="1100" u="none" cap="none" strike="noStrike">
                <a:solidFill>
                  <a:srgbClr val="CFD0D8"/>
                </a:solidFill>
                <a:latin typeface="Roboto Medium"/>
                <a:ea typeface="Roboto Medium"/>
                <a:cs typeface="Roboto Medium"/>
                <a:sym typeface="Roboto Medium"/>
              </a:rPr>
              <a:t>Accelerating Losses</a:t>
            </a:r>
            <a:endParaRPr b="0" i="0" sz="1100" u="none" cap="none" strike="noStrike"/>
          </a:p>
        </p:txBody>
      </p:sp>
      <p:sp>
        <p:nvSpPr>
          <p:cNvPr id="76" name="Google Shape;76;p14"/>
          <p:cNvSpPr/>
          <p:nvPr/>
        </p:nvSpPr>
        <p:spPr>
          <a:xfrm>
            <a:off x="3354586" y="3882256"/>
            <a:ext cx="2434754" cy="703362"/>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Monthly losses grew 262× from $220 (Jan 2019) to $57,861 (Jan 2024). A 5% conversion improvement would recover over $37,000 annually.</a:t>
            </a:r>
            <a:endParaRPr b="0" i="0" sz="900" u="none" cap="none" strike="noStrike"/>
          </a:p>
        </p:txBody>
      </p:sp>
      <p:sp>
        <p:nvSpPr>
          <p:cNvPr id="77" name="Google Shape;77;p14"/>
          <p:cNvSpPr/>
          <p:nvPr/>
        </p:nvSpPr>
        <p:spPr>
          <a:xfrm>
            <a:off x="6013772" y="3521273"/>
            <a:ext cx="2672804" cy="1183407"/>
          </a:xfrm>
          <a:prstGeom prst="roundRect">
            <a:avLst>
              <a:gd fmla="val 4059" name="adj"/>
            </a:avLst>
          </a:prstGeom>
          <a:solidFill>
            <a:srgbClr val="182567"/>
          </a:solidFill>
          <a:ln cap="flat" cmpd="sng" w="9525">
            <a:solidFill>
              <a:srgbClr val="313E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a:off x="6132835" y="3640336"/>
            <a:ext cx="1667321"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FD0D8"/>
              </a:buClr>
              <a:buSzPts val="1100"/>
              <a:buFont typeface="Roboto Medium"/>
              <a:buNone/>
            </a:pPr>
            <a:r>
              <a:rPr b="0" i="0" lang="en-US" sz="1100" u="none" cap="none" strike="noStrike">
                <a:solidFill>
                  <a:srgbClr val="CFD0D8"/>
                </a:solidFill>
                <a:latin typeface="Roboto Medium"/>
                <a:ea typeface="Roboto Medium"/>
                <a:cs typeface="Roboto Medium"/>
                <a:sym typeface="Roboto Medium"/>
              </a:rPr>
              <a:t>Behavioral Warning Signal</a:t>
            </a:r>
            <a:endParaRPr b="0" i="0" sz="1100" u="none" cap="none" strike="noStrike"/>
          </a:p>
        </p:txBody>
      </p:sp>
      <p:sp>
        <p:nvSpPr>
          <p:cNvPr id="79" name="Google Shape;79;p14"/>
          <p:cNvSpPr/>
          <p:nvPr/>
        </p:nvSpPr>
        <p:spPr>
          <a:xfrm>
            <a:off x="6132835" y="3882256"/>
            <a:ext cx="2434679" cy="52752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Users who later cancelled or returned orders showed 21% higher browsing activity than those who completed purchases successfully.</a:t>
            </a:r>
            <a:endParaRPr b="0" i="0" sz="90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p:nvPr/>
        </p:nvSpPr>
        <p:spPr>
          <a:xfrm>
            <a:off x="457349" y="354360"/>
            <a:ext cx="996255" cy="218703"/>
          </a:xfrm>
          <a:prstGeom prst="roundRect">
            <a:avLst>
              <a:gd fmla="val 17569" name="adj"/>
            </a:avLst>
          </a:prstGeom>
          <a:noFill/>
          <a:ln cap="flat" cmpd="sng" w="9525">
            <a:solidFill>
              <a:srgbClr val="5A6E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5"/>
          <p:cNvSpPr/>
          <p:nvPr/>
        </p:nvSpPr>
        <p:spPr>
          <a:xfrm>
            <a:off x="530721" y="393427"/>
            <a:ext cx="1306711" cy="140568"/>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5A6ED8"/>
              </a:buClr>
              <a:buSzPts val="700"/>
              <a:buFont typeface="Roboto"/>
              <a:buNone/>
            </a:pPr>
            <a:r>
              <a:rPr b="0" i="0" lang="en-US" sz="700" u="none" cap="none" strike="noStrike">
                <a:solidFill>
                  <a:srgbClr val="5A6ED8"/>
                </a:solidFill>
                <a:latin typeface="Roboto"/>
                <a:ea typeface="Roboto"/>
                <a:cs typeface="Roboto"/>
                <a:sym typeface="Roboto"/>
              </a:rPr>
              <a:t>DATASET OVERVIEW</a:t>
            </a:r>
            <a:endParaRPr b="0" i="0" sz="700" u="none" cap="none" strike="noStrike"/>
          </a:p>
        </p:txBody>
      </p:sp>
      <p:sp>
        <p:nvSpPr>
          <p:cNvPr id="87" name="Google Shape;87;p15"/>
          <p:cNvSpPr/>
          <p:nvPr/>
        </p:nvSpPr>
        <p:spPr>
          <a:xfrm>
            <a:off x="457349" y="615181"/>
            <a:ext cx="5397922" cy="3573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250"/>
              <a:buFont typeface="Roboto Medium"/>
              <a:buNone/>
            </a:pPr>
            <a:r>
              <a:rPr b="0" i="0" lang="en-US" sz="2250" u="none" cap="none" strike="noStrike">
                <a:solidFill>
                  <a:srgbClr val="FFFFFF"/>
                </a:solidFill>
                <a:latin typeface="Roboto Medium"/>
                <a:ea typeface="Roboto Medium"/>
                <a:cs typeface="Roboto Medium"/>
                <a:sym typeface="Roboto Medium"/>
              </a:rPr>
              <a:t>About the Dataset &amp; Business Problem</a:t>
            </a:r>
            <a:endParaRPr b="0" i="0" sz="2250" u="none" cap="none" strike="noStrike"/>
          </a:p>
        </p:txBody>
      </p:sp>
      <p:sp>
        <p:nvSpPr>
          <p:cNvPr id="88" name="Google Shape;88;p15"/>
          <p:cNvSpPr/>
          <p:nvPr/>
        </p:nvSpPr>
        <p:spPr>
          <a:xfrm>
            <a:off x="457349" y="1236018"/>
            <a:ext cx="1886620"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100"/>
              <a:buFont typeface="Roboto Medium"/>
              <a:buNone/>
            </a:pPr>
            <a:r>
              <a:rPr b="0" i="0" lang="en-US" sz="1100" u="none" cap="none" strike="noStrike">
                <a:solidFill>
                  <a:srgbClr val="FFFFFF"/>
                </a:solidFill>
                <a:latin typeface="Roboto Medium"/>
                <a:ea typeface="Roboto Medium"/>
                <a:cs typeface="Roboto Medium"/>
                <a:sym typeface="Roboto Medium"/>
              </a:rPr>
              <a:t>Dataset Structure</a:t>
            </a:r>
            <a:endParaRPr b="0" i="0" sz="1100" u="none" cap="none" strike="noStrike"/>
          </a:p>
        </p:txBody>
      </p:sp>
      <p:sp>
        <p:nvSpPr>
          <p:cNvPr id="89" name="Google Shape;89;p15"/>
          <p:cNvSpPr/>
          <p:nvPr/>
        </p:nvSpPr>
        <p:spPr>
          <a:xfrm>
            <a:off x="457349" y="1520056"/>
            <a:ext cx="4400550" cy="52752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TheLook is a fictitious e-commerce platform hosted on Google BigQuery. The dataset spans multiple years across </a:t>
            </a:r>
            <a:r>
              <a:rPr b="1" i="0" lang="en-US" sz="900" u="none" cap="none" strike="noStrike">
                <a:solidFill>
                  <a:srgbClr val="CFD0D8"/>
                </a:solidFill>
                <a:latin typeface="Roboto"/>
                <a:ea typeface="Roboto"/>
                <a:cs typeface="Roboto"/>
                <a:sym typeface="Roboto"/>
              </a:rPr>
              <a:t>7 interconnected tables</a:t>
            </a:r>
            <a:r>
              <a:rPr b="0" i="0" lang="en-US" sz="900" u="none" cap="none" strike="noStrike">
                <a:solidFill>
                  <a:srgbClr val="CFD0D8"/>
                </a:solidFill>
                <a:latin typeface="Roboto"/>
                <a:ea typeface="Roboto"/>
                <a:cs typeface="Roboto"/>
                <a:sym typeface="Roboto"/>
              </a:rPr>
              <a:t> covering customers, products, orders, web events, and logistics.</a:t>
            </a:r>
            <a:endParaRPr b="0" i="0" sz="900" u="none" cap="none" strike="noStrike"/>
          </a:p>
        </p:txBody>
      </p:sp>
      <p:sp>
        <p:nvSpPr>
          <p:cNvPr id="90" name="Google Shape;90;p15"/>
          <p:cNvSpPr/>
          <p:nvPr/>
        </p:nvSpPr>
        <p:spPr>
          <a:xfrm>
            <a:off x="457349" y="2166119"/>
            <a:ext cx="4400550" cy="2504480"/>
          </a:xfrm>
          <a:prstGeom prst="roundRect">
            <a:avLst>
              <a:gd fmla="val 1918" name="adj"/>
            </a:avLst>
          </a:prstGeom>
          <a:noFill/>
          <a:ln cap="flat" cmpd="sng" w="9525">
            <a:solidFill>
              <a:srgbClr val="FFFFFF">
                <a:alpha val="2392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5"/>
          <p:cNvSpPr/>
          <p:nvPr/>
        </p:nvSpPr>
        <p:spPr>
          <a:xfrm>
            <a:off x="462111" y="2170881"/>
            <a:ext cx="4391025" cy="311869"/>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5"/>
          <p:cNvSpPr/>
          <p:nvPr/>
        </p:nvSpPr>
        <p:spPr>
          <a:xfrm>
            <a:off x="576411" y="2238896"/>
            <a:ext cx="2421731"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1" i="0" lang="en-US" sz="900" u="none" cap="none" strike="noStrike">
                <a:solidFill>
                  <a:srgbClr val="CFD0D8"/>
                </a:solidFill>
                <a:latin typeface="Roboto"/>
                <a:ea typeface="Roboto"/>
                <a:cs typeface="Roboto"/>
                <a:sym typeface="Roboto"/>
              </a:rPr>
              <a:t>Table</a:t>
            </a:r>
            <a:endParaRPr b="0" i="0" sz="900" u="none" cap="none" strike="noStrike"/>
          </a:p>
        </p:txBody>
      </p:sp>
      <p:sp>
        <p:nvSpPr>
          <p:cNvPr id="93" name="Google Shape;93;p15"/>
          <p:cNvSpPr/>
          <p:nvPr/>
        </p:nvSpPr>
        <p:spPr>
          <a:xfrm>
            <a:off x="2774305" y="2238896"/>
            <a:ext cx="2421731"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1" i="0" lang="en-US" sz="900" u="none" cap="none" strike="noStrike">
                <a:solidFill>
                  <a:srgbClr val="CFD0D8"/>
                </a:solidFill>
                <a:latin typeface="Roboto"/>
                <a:ea typeface="Roboto"/>
                <a:cs typeface="Roboto"/>
                <a:sym typeface="Roboto"/>
              </a:rPr>
              <a:t>Rows</a:t>
            </a:r>
            <a:endParaRPr b="0" i="0" sz="900" u="none" cap="none" strike="noStrike"/>
          </a:p>
        </p:txBody>
      </p:sp>
      <p:sp>
        <p:nvSpPr>
          <p:cNvPr id="94" name="Google Shape;94;p15"/>
          <p:cNvSpPr/>
          <p:nvPr/>
        </p:nvSpPr>
        <p:spPr>
          <a:xfrm>
            <a:off x="462111" y="2482751"/>
            <a:ext cx="4391025" cy="311869"/>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5"/>
          <p:cNvSpPr/>
          <p:nvPr/>
        </p:nvSpPr>
        <p:spPr>
          <a:xfrm>
            <a:off x="576411" y="2550765"/>
            <a:ext cx="2421731"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orders</a:t>
            </a:r>
            <a:endParaRPr b="0" i="0" sz="900" u="none" cap="none" strike="noStrike"/>
          </a:p>
        </p:txBody>
      </p:sp>
      <p:sp>
        <p:nvSpPr>
          <p:cNvPr id="96" name="Google Shape;96;p15"/>
          <p:cNvSpPr/>
          <p:nvPr/>
        </p:nvSpPr>
        <p:spPr>
          <a:xfrm>
            <a:off x="2774305" y="2550765"/>
            <a:ext cx="2421731"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125,226</a:t>
            </a:r>
            <a:endParaRPr b="0" i="0" sz="900" u="none" cap="none" strike="noStrike"/>
          </a:p>
        </p:txBody>
      </p:sp>
      <p:sp>
        <p:nvSpPr>
          <p:cNvPr id="97" name="Google Shape;97;p15"/>
          <p:cNvSpPr/>
          <p:nvPr/>
        </p:nvSpPr>
        <p:spPr>
          <a:xfrm>
            <a:off x="462111" y="2794620"/>
            <a:ext cx="4391025" cy="311869"/>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5"/>
          <p:cNvSpPr/>
          <p:nvPr/>
        </p:nvSpPr>
        <p:spPr>
          <a:xfrm>
            <a:off x="576411" y="2862635"/>
            <a:ext cx="2421731"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order_items</a:t>
            </a:r>
            <a:endParaRPr b="0" i="0" sz="900" u="none" cap="none" strike="noStrike"/>
          </a:p>
        </p:txBody>
      </p:sp>
      <p:sp>
        <p:nvSpPr>
          <p:cNvPr id="99" name="Google Shape;99;p15"/>
          <p:cNvSpPr/>
          <p:nvPr/>
        </p:nvSpPr>
        <p:spPr>
          <a:xfrm>
            <a:off x="2774305" y="2862635"/>
            <a:ext cx="2421731"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181,759</a:t>
            </a:r>
            <a:endParaRPr b="0" i="0" sz="900" u="none" cap="none" strike="noStrike"/>
          </a:p>
        </p:txBody>
      </p:sp>
      <p:sp>
        <p:nvSpPr>
          <p:cNvPr id="100" name="Google Shape;100;p15"/>
          <p:cNvSpPr/>
          <p:nvPr/>
        </p:nvSpPr>
        <p:spPr>
          <a:xfrm>
            <a:off x="462111" y="3106489"/>
            <a:ext cx="4391025" cy="311869"/>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p:nvPr/>
        </p:nvSpPr>
        <p:spPr>
          <a:xfrm>
            <a:off x="576411" y="3174504"/>
            <a:ext cx="2421731"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users</a:t>
            </a:r>
            <a:endParaRPr b="0" i="0" sz="900" u="none" cap="none" strike="noStrike"/>
          </a:p>
        </p:txBody>
      </p:sp>
      <p:sp>
        <p:nvSpPr>
          <p:cNvPr id="102" name="Google Shape;102;p15"/>
          <p:cNvSpPr/>
          <p:nvPr/>
        </p:nvSpPr>
        <p:spPr>
          <a:xfrm>
            <a:off x="2774305" y="3174504"/>
            <a:ext cx="2421731"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99,042</a:t>
            </a:r>
            <a:endParaRPr b="0" i="0" sz="900" u="none" cap="none" strike="noStrike"/>
          </a:p>
        </p:txBody>
      </p:sp>
      <p:sp>
        <p:nvSpPr>
          <p:cNvPr id="103" name="Google Shape;103;p15"/>
          <p:cNvSpPr/>
          <p:nvPr/>
        </p:nvSpPr>
        <p:spPr>
          <a:xfrm>
            <a:off x="462111" y="3418359"/>
            <a:ext cx="4391025" cy="311869"/>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5"/>
          <p:cNvSpPr/>
          <p:nvPr/>
        </p:nvSpPr>
        <p:spPr>
          <a:xfrm>
            <a:off x="576411" y="3486373"/>
            <a:ext cx="2421731"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products</a:t>
            </a:r>
            <a:endParaRPr b="0" i="0" sz="900" u="none" cap="none" strike="noStrike"/>
          </a:p>
        </p:txBody>
      </p:sp>
      <p:sp>
        <p:nvSpPr>
          <p:cNvPr id="105" name="Google Shape;105;p15"/>
          <p:cNvSpPr/>
          <p:nvPr/>
        </p:nvSpPr>
        <p:spPr>
          <a:xfrm>
            <a:off x="2774305" y="3486373"/>
            <a:ext cx="2421731"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29,120</a:t>
            </a:r>
            <a:endParaRPr b="0" i="0" sz="900" u="none" cap="none" strike="noStrike"/>
          </a:p>
        </p:txBody>
      </p:sp>
      <p:sp>
        <p:nvSpPr>
          <p:cNvPr id="106" name="Google Shape;106;p15"/>
          <p:cNvSpPr/>
          <p:nvPr/>
        </p:nvSpPr>
        <p:spPr>
          <a:xfrm>
            <a:off x="462111" y="3730228"/>
            <a:ext cx="4391025" cy="311869"/>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5"/>
          <p:cNvSpPr/>
          <p:nvPr/>
        </p:nvSpPr>
        <p:spPr>
          <a:xfrm>
            <a:off x="576411" y="3798243"/>
            <a:ext cx="2421731"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events</a:t>
            </a:r>
            <a:endParaRPr b="0" i="0" sz="900" u="none" cap="none" strike="noStrike"/>
          </a:p>
        </p:txBody>
      </p:sp>
      <p:sp>
        <p:nvSpPr>
          <p:cNvPr id="108" name="Google Shape;108;p15"/>
          <p:cNvSpPr/>
          <p:nvPr/>
        </p:nvSpPr>
        <p:spPr>
          <a:xfrm>
            <a:off x="2774305" y="3798243"/>
            <a:ext cx="2421731"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300,000 (sampled)</a:t>
            </a:r>
            <a:endParaRPr b="0" i="0" sz="900" u="none" cap="none" strike="noStrike"/>
          </a:p>
        </p:txBody>
      </p:sp>
      <p:sp>
        <p:nvSpPr>
          <p:cNvPr id="109" name="Google Shape;109;p15"/>
          <p:cNvSpPr/>
          <p:nvPr/>
        </p:nvSpPr>
        <p:spPr>
          <a:xfrm>
            <a:off x="462111" y="4042097"/>
            <a:ext cx="4391025" cy="311869"/>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5"/>
          <p:cNvSpPr/>
          <p:nvPr/>
        </p:nvSpPr>
        <p:spPr>
          <a:xfrm>
            <a:off x="576411" y="4110112"/>
            <a:ext cx="2421731"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inventory_items</a:t>
            </a:r>
            <a:endParaRPr b="0" i="0" sz="900" u="none" cap="none" strike="noStrike"/>
          </a:p>
        </p:txBody>
      </p:sp>
      <p:sp>
        <p:nvSpPr>
          <p:cNvPr id="111" name="Google Shape;111;p15"/>
          <p:cNvSpPr/>
          <p:nvPr/>
        </p:nvSpPr>
        <p:spPr>
          <a:xfrm>
            <a:off x="2774305" y="4110112"/>
            <a:ext cx="2421731"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100,000 (sampled)</a:t>
            </a:r>
            <a:endParaRPr b="0" i="0" sz="900" u="none" cap="none" strike="noStrike"/>
          </a:p>
        </p:txBody>
      </p:sp>
      <p:sp>
        <p:nvSpPr>
          <p:cNvPr id="112" name="Google Shape;112;p15"/>
          <p:cNvSpPr/>
          <p:nvPr/>
        </p:nvSpPr>
        <p:spPr>
          <a:xfrm>
            <a:off x="462111" y="4353967"/>
            <a:ext cx="4391025" cy="311869"/>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a:off x="576411" y="4421981"/>
            <a:ext cx="2421731"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distribution_centers</a:t>
            </a:r>
            <a:endParaRPr b="0" i="0" sz="900" u="none" cap="none" strike="noStrike"/>
          </a:p>
        </p:txBody>
      </p:sp>
      <p:sp>
        <p:nvSpPr>
          <p:cNvPr id="114" name="Google Shape;114;p15"/>
          <p:cNvSpPr/>
          <p:nvPr/>
        </p:nvSpPr>
        <p:spPr>
          <a:xfrm>
            <a:off x="2774305" y="4421981"/>
            <a:ext cx="2421731" cy="17584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10</a:t>
            </a:r>
            <a:endParaRPr b="0" i="0" sz="900" u="none" cap="none" strike="noStrike"/>
          </a:p>
        </p:txBody>
      </p:sp>
      <p:sp>
        <p:nvSpPr>
          <p:cNvPr id="115" name="Google Shape;115;p15"/>
          <p:cNvSpPr/>
          <p:nvPr/>
        </p:nvSpPr>
        <p:spPr>
          <a:xfrm>
            <a:off x="5059263" y="1130647"/>
            <a:ext cx="3714378" cy="3658493"/>
          </a:xfrm>
          <a:prstGeom prst="roundRect">
            <a:avLst>
              <a:gd fmla="val 2251" name="adj"/>
            </a:avLst>
          </a:prstGeom>
          <a:solidFill>
            <a:srgbClr val="5A6ED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5"/>
          <p:cNvSpPr/>
          <p:nvPr/>
        </p:nvSpPr>
        <p:spPr>
          <a:xfrm>
            <a:off x="5173563" y="1236018"/>
            <a:ext cx="2387203"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100"/>
              <a:buFont typeface="Roboto Medium"/>
              <a:buNone/>
            </a:pPr>
            <a:r>
              <a:rPr b="0" i="0" lang="en-US" sz="1100" u="none" cap="none" strike="noStrike">
                <a:solidFill>
                  <a:srgbClr val="FFFFFF"/>
                </a:solidFill>
                <a:latin typeface="Roboto Medium"/>
                <a:ea typeface="Roboto Medium"/>
                <a:cs typeface="Roboto Medium"/>
                <a:sym typeface="Roboto Medium"/>
              </a:rPr>
              <a:t>The Core Leadership Question</a:t>
            </a:r>
            <a:endParaRPr b="0" i="0" sz="1100" u="none" cap="none" strike="noStrike"/>
          </a:p>
        </p:txBody>
      </p:sp>
      <p:sp>
        <p:nvSpPr>
          <p:cNvPr id="117" name="Google Shape;117;p15"/>
          <p:cNvSpPr/>
          <p:nvPr/>
        </p:nvSpPr>
        <p:spPr>
          <a:xfrm>
            <a:off x="5173563" y="1520056"/>
            <a:ext cx="3485778" cy="52752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000000"/>
              </a:buClr>
              <a:buSzPts val="900"/>
              <a:buFont typeface="Roboto"/>
              <a:buNone/>
            </a:pPr>
            <a:r>
              <a:rPr b="0" i="0" lang="en-US" sz="900" u="none" cap="none" strike="noStrike">
                <a:solidFill>
                  <a:srgbClr val="000000"/>
                </a:solidFill>
                <a:latin typeface="Roboto"/>
                <a:ea typeface="Roboto"/>
                <a:cs typeface="Roboto"/>
                <a:sym typeface="Roboto"/>
              </a:rPr>
              <a:t>TheLook generates consistent traffic across organic search, paid advertising, email, and social media — yet a significant portion of users never complete their purchase.</a:t>
            </a:r>
            <a:endParaRPr b="0" i="0" sz="900" u="none" cap="none" strike="noStrike"/>
          </a:p>
        </p:txBody>
      </p:sp>
      <p:sp>
        <p:nvSpPr>
          <p:cNvPr id="118" name="Google Shape;118;p15"/>
          <p:cNvSpPr/>
          <p:nvPr/>
        </p:nvSpPr>
        <p:spPr>
          <a:xfrm>
            <a:off x="5345088" y="2166119"/>
            <a:ext cx="3314254" cy="35168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000000"/>
              </a:buClr>
              <a:buSzPts val="900"/>
              <a:buFont typeface="Roboto"/>
              <a:buNone/>
            </a:pPr>
            <a:r>
              <a:rPr b="0" i="0" lang="en-US" sz="900" u="none" cap="none" strike="noStrike">
                <a:solidFill>
                  <a:srgbClr val="000000"/>
                </a:solidFill>
                <a:latin typeface="Roboto"/>
                <a:ea typeface="Roboto"/>
                <a:cs typeface="Roboto"/>
                <a:sym typeface="Roboto"/>
              </a:rPr>
              <a:t>Are we losing customers because of a product problem, a pricing problem, a channel problem, or a checkout experience problem?</a:t>
            </a:r>
            <a:endParaRPr b="0" i="0" sz="900" u="none" cap="none" strike="noStrike"/>
          </a:p>
        </p:txBody>
      </p:sp>
      <p:sp>
        <p:nvSpPr>
          <p:cNvPr id="119" name="Google Shape;119;p15"/>
          <p:cNvSpPr/>
          <p:nvPr/>
        </p:nvSpPr>
        <p:spPr>
          <a:xfrm>
            <a:off x="5173563" y="2166119"/>
            <a:ext cx="14288" cy="351681"/>
          </a:xfrm>
          <a:prstGeom prst="rect">
            <a:avLst/>
          </a:prstGeom>
          <a:solidFill>
            <a:srgbClr val="5A6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p:nvPr/>
        </p:nvSpPr>
        <p:spPr>
          <a:xfrm>
            <a:off x="5173563" y="2636341"/>
            <a:ext cx="3485778" cy="52752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000000"/>
              </a:buClr>
              <a:buSzPts val="900"/>
              <a:buFont typeface="Roboto"/>
              <a:buNone/>
            </a:pPr>
            <a:r>
              <a:rPr b="0" i="0" lang="en-US" sz="900" u="none" cap="none" strike="noStrike">
                <a:solidFill>
                  <a:srgbClr val="000000"/>
                </a:solidFill>
                <a:latin typeface="Roboto"/>
                <a:ea typeface="Roboto"/>
                <a:cs typeface="Roboto"/>
                <a:sym typeface="Roboto"/>
              </a:rPr>
              <a:t>14 analytical questions were explored across funnel behavior, segmentation, channel attribution, product analysis, revenue quantification, and hypothesis testing.</a:t>
            </a:r>
            <a:endParaRPr b="0" i="0" sz="9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6"/>
          <p:cNvSpPr/>
          <p:nvPr/>
        </p:nvSpPr>
        <p:spPr>
          <a:xfrm>
            <a:off x="903759" y="279797"/>
            <a:ext cx="1386557" cy="159990"/>
          </a:xfrm>
          <a:prstGeom prst="roundRect">
            <a:avLst>
              <a:gd fmla="val 19539" name="adj"/>
            </a:avLst>
          </a:prstGeom>
          <a:solidFill>
            <a:srgbClr val="0F16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6"/>
          <p:cNvSpPr/>
          <p:nvPr/>
        </p:nvSpPr>
        <p:spPr>
          <a:xfrm>
            <a:off x="959569" y="307702"/>
            <a:ext cx="1732136" cy="10418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FD0D8"/>
              </a:buClr>
              <a:buSzPts val="550"/>
              <a:buFont typeface="Roboto"/>
              <a:buNone/>
            </a:pPr>
            <a:r>
              <a:rPr b="0" i="0" lang="en-US" sz="550" u="none" cap="none" strike="noStrike">
                <a:solidFill>
                  <a:srgbClr val="CFD0D8"/>
                </a:solidFill>
                <a:latin typeface="Roboto"/>
                <a:ea typeface="Roboto"/>
                <a:cs typeface="Roboto"/>
                <a:sym typeface="Roboto"/>
              </a:rPr>
              <a:t>SECTION 1 — FUNNEL &amp; CONVERSION</a:t>
            </a:r>
            <a:endParaRPr b="0" i="0" sz="550" u="none" cap="none" strike="noStrike"/>
          </a:p>
        </p:txBody>
      </p:sp>
      <p:sp>
        <p:nvSpPr>
          <p:cNvPr id="128" name="Google Shape;128;p16"/>
          <p:cNvSpPr/>
          <p:nvPr/>
        </p:nvSpPr>
        <p:spPr>
          <a:xfrm>
            <a:off x="903759" y="467692"/>
            <a:ext cx="4925764" cy="2907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800"/>
              <a:buFont typeface="Roboto Medium"/>
              <a:buNone/>
            </a:pPr>
            <a:r>
              <a:rPr b="0" i="0" lang="en-US" sz="1800" u="none" cap="none" strike="noStrike">
                <a:solidFill>
                  <a:srgbClr val="FFFFFF"/>
                </a:solidFill>
                <a:latin typeface="Roboto Medium"/>
                <a:ea typeface="Roboto Medium"/>
                <a:cs typeface="Roboto Medium"/>
                <a:sym typeface="Roboto Medium"/>
              </a:rPr>
              <a:t>Overall Funnel Conversion &amp; Monthly Trend</a:t>
            </a:r>
            <a:endParaRPr b="0" i="0" sz="1800" u="none" cap="none" strike="noStrike"/>
          </a:p>
        </p:txBody>
      </p:sp>
      <p:sp>
        <p:nvSpPr>
          <p:cNvPr id="129" name="Google Shape;129;p16"/>
          <p:cNvSpPr/>
          <p:nvPr/>
        </p:nvSpPr>
        <p:spPr>
          <a:xfrm>
            <a:off x="903759" y="863054"/>
            <a:ext cx="7793608" cy="130225"/>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FD0D8"/>
              </a:buClr>
              <a:buSzPts val="700"/>
              <a:buFont typeface="Roboto"/>
              <a:buNone/>
            </a:pPr>
            <a:r>
              <a:rPr b="0" i="0" lang="en-US" sz="700" u="none" cap="none" strike="noStrike">
                <a:solidFill>
                  <a:srgbClr val="CFD0D8"/>
                </a:solidFill>
                <a:latin typeface="Roboto"/>
                <a:ea typeface="Roboto"/>
                <a:cs typeface="Roboto"/>
                <a:sym typeface="Roboto"/>
              </a:rPr>
              <a:t>The funnel was defined using three event types: </a:t>
            </a:r>
            <a:r>
              <a:rPr b="1" i="0" lang="en-US" sz="700" u="none" cap="none" strike="noStrike">
                <a:solidFill>
                  <a:srgbClr val="CFD0D8"/>
                </a:solidFill>
                <a:latin typeface="Roboto"/>
                <a:ea typeface="Roboto"/>
                <a:cs typeface="Roboto"/>
                <a:sym typeface="Roboto"/>
              </a:rPr>
              <a:t>product view → cart add → purchase</a:t>
            </a:r>
            <a:r>
              <a:rPr b="0" i="0" lang="en-US" sz="700" u="none" cap="none" strike="noStrike">
                <a:solidFill>
                  <a:srgbClr val="CFD0D8"/>
                </a:solidFill>
                <a:latin typeface="Roboto"/>
                <a:ea typeface="Roboto"/>
                <a:cs typeface="Roboto"/>
                <a:sym typeface="Roboto"/>
              </a:rPr>
              <a:t>. Home and department stages were excluded as users enter directly via search or paid ads.</a:t>
            </a:r>
            <a:endParaRPr b="0" i="0" sz="700" u="none" cap="none" strike="noStrike"/>
          </a:p>
        </p:txBody>
      </p:sp>
      <p:sp>
        <p:nvSpPr>
          <p:cNvPr id="130" name="Google Shape;130;p16"/>
          <p:cNvSpPr/>
          <p:nvPr/>
        </p:nvSpPr>
        <p:spPr>
          <a:xfrm>
            <a:off x="903759" y="1141437"/>
            <a:ext cx="1620069" cy="14533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900"/>
              <a:buFont typeface="Roboto Medium"/>
              <a:buNone/>
            </a:pPr>
            <a:r>
              <a:rPr b="0" i="0" lang="en-US" sz="900" u="none" cap="none" strike="noStrike">
                <a:solidFill>
                  <a:srgbClr val="FFFFFF"/>
                </a:solidFill>
                <a:latin typeface="Roboto Medium"/>
                <a:ea typeface="Roboto Medium"/>
                <a:cs typeface="Roboto Medium"/>
                <a:sym typeface="Roboto Medium"/>
              </a:rPr>
              <a:t>Funnel Drop-off Rates</a:t>
            </a:r>
            <a:endParaRPr b="0" i="0" sz="900" u="none" cap="none" strike="noStrike"/>
          </a:p>
        </p:txBody>
      </p:sp>
      <p:pic>
        <p:nvPicPr>
          <p:cNvPr descr="preencoded.png" id="131" name="Google Shape;131;p16"/>
          <p:cNvPicPr preferRelativeResize="0"/>
          <p:nvPr/>
        </p:nvPicPr>
        <p:blipFill rotWithShape="1">
          <a:blip r:embed="rId3">
            <a:alphaModFix/>
          </a:blip>
          <a:srcRect b="0" l="0" r="0" t="0"/>
          <a:stretch/>
        </p:blipFill>
        <p:spPr>
          <a:xfrm>
            <a:off x="903759" y="1365200"/>
            <a:ext cx="3554685" cy="2558653"/>
          </a:xfrm>
          <a:prstGeom prst="rect">
            <a:avLst/>
          </a:prstGeom>
          <a:noFill/>
          <a:ln>
            <a:noFill/>
          </a:ln>
        </p:spPr>
      </p:pic>
      <p:sp>
        <p:nvSpPr>
          <p:cNvPr id="132" name="Google Shape;132;p16"/>
          <p:cNvSpPr/>
          <p:nvPr/>
        </p:nvSpPr>
        <p:spPr>
          <a:xfrm>
            <a:off x="4690170" y="1141437"/>
            <a:ext cx="2086347" cy="14533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900"/>
              <a:buFont typeface="Roboto Medium"/>
              <a:buNone/>
            </a:pPr>
            <a:r>
              <a:rPr b="0" i="0" lang="en-US" sz="900" u="none" cap="none" strike="noStrike">
                <a:solidFill>
                  <a:srgbClr val="FFFFFF"/>
                </a:solidFill>
                <a:latin typeface="Roboto Medium"/>
                <a:ea typeface="Roboto Medium"/>
                <a:cs typeface="Roboto Medium"/>
                <a:sym typeface="Roboto Medium"/>
              </a:rPr>
              <a:t>Monthly Conversion Rate Trend</a:t>
            </a:r>
            <a:endParaRPr b="0" i="0" sz="900" u="none" cap="none" strike="noStrike"/>
          </a:p>
        </p:txBody>
      </p:sp>
      <p:pic>
        <p:nvPicPr>
          <p:cNvPr descr="preencoded.png" id="133" name="Google Shape;133;p16"/>
          <p:cNvPicPr preferRelativeResize="0"/>
          <p:nvPr/>
        </p:nvPicPr>
        <p:blipFill rotWithShape="1">
          <a:blip r:embed="rId4">
            <a:alphaModFix/>
          </a:blip>
          <a:srcRect b="0" l="0" r="0" t="0"/>
          <a:stretch/>
        </p:blipFill>
        <p:spPr>
          <a:xfrm>
            <a:off x="4690170" y="1365200"/>
            <a:ext cx="3554685" cy="2558653"/>
          </a:xfrm>
          <a:prstGeom prst="rect">
            <a:avLst/>
          </a:prstGeom>
          <a:noFill/>
          <a:ln>
            <a:noFill/>
          </a:ln>
        </p:spPr>
      </p:pic>
      <p:sp>
        <p:nvSpPr>
          <p:cNvPr id="134" name="Google Shape;134;p16"/>
          <p:cNvSpPr/>
          <p:nvPr/>
        </p:nvSpPr>
        <p:spPr>
          <a:xfrm>
            <a:off x="903759" y="4080718"/>
            <a:ext cx="3633341" cy="782910"/>
          </a:xfrm>
          <a:prstGeom prst="roundRect">
            <a:avLst>
              <a:gd fmla="val 5840" name="adj"/>
            </a:avLst>
          </a:prstGeom>
          <a:solidFill>
            <a:srgbClr val="000018">
              <a:alpha val="94901"/>
            </a:srgbClr>
          </a:solidFill>
          <a:ln cap="flat" cmpd="sng" w="9525">
            <a:solidFill>
              <a:srgbClr val="313E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p:cNvSpPr/>
          <p:nvPr/>
        </p:nvSpPr>
        <p:spPr>
          <a:xfrm>
            <a:off x="894234" y="4080718"/>
            <a:ext cx="38100" cy="782910"/>
          </a:xfrm>
          <a:prstGeom prst="roundRect">
            <a:avLst>
              <a:gd fmla="val 102558" name="adj"/>
            </a:avLst>
          </a:prstGeom>
          <a:solidFill>
            <a:srgbClr val="5A6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6"/>
          <p:cNvSpPr/>
          <p:nvPr/>
        </p:nvSpPr>
        <p:spPr>
          <a:xfrm>
            <a:off x="1034876" y="4183261"/>
            <a:ext cx="1802383" cy="14533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FD0D8"/>
              </a:buClr>
              <a:buSzPts val="900"/>
              <a:buFont typeface="Roboto Medium"/>
              <a:buNone/>
            </a:pPr>
            <a:r>
              <a:rPr b="0" i="0" lang="en-US" sz="900" u="none" cap="none" strike="noStrike">
                <a:solidFill>
                  <a:srgbClr val="CFD0D8"/>
                </a:solidFill>
                <a:latin typeface="Roboto Medium"/>
                <a:ea typeface="Roboto Medium"/>
                <a:cs typeface="Roboto Medium"/>
                <a:sym typeface="Roboto Medium"/>
              </a:rPr>
              <a:t>Biggest Drop-off: Cart → Purchase</a:t>
            </a:r>
            <a:endParaRPr b="0" i="0" sz="900" u="none" cap="none" strike="noStrike"/>
          </a:p>
        </p:txBody>
      </p:sp>
      <p:sp>
        <p:nvSpPr>
          <p:cNvPr id="137" name="Google Shape;137;p16"/>
          <p:cNvSpPr/>
          <p:nvPr/>
        </p:nvSpPr>
        <p:spPr>
          <a:xfrm>
            <a:off x="1034876" y="4370412"/>
            <a:ext cx="3399681" cy="260449"/>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FD0D8"/>
              </a:buClr>
              <a:buSzPts val="700"/>
              <a:buFont typeface="Roboto"/>
              <a:buNone/>
            </a:pPr>
            <a:r>
              <a:rPr b="1" i="0" lang="en-US" sz="700" u="none" cap="none" strike="noStrike">
                <a:solidFill>
                  <a:srgbClr val="CFD0D8"/>
                </a:solidFill>
                <a:latin typeface="Roboto"/>
                <a:ea typeface="Roboto"/>
                <a:cs typeface="Roboto"/>
                <a:sym typeface="Roboto"/>
              </a:rPr>
              <a:t>67.92% drop-off rate</a:t>
            </a:r>
            <a:r>
              <a:rPr b="0" i="0" lang="en-US" sz="700" u="none" cap="none" strike="noStrike">
                <a:solidFill>
                  <a:srgbClr val="CFD0D8"/>
                </a:solidFill>
                <a:latin typeface="Roboto"/>
                <a:ea typeface="Roboto"/>
                <a:cs typeface="Roboto"/>
                <a:sym typeface="Roboto"/>
              </a:rPr>
              <a:t> — nearly 7 out of 10 users who add items to cart never complete the purchase. This is the primary area of concern.</a:t>
            </a:r>
            <a:endParaRPr b="0" i="0" sz="700" u="none" cap="none" strike="noStrike"/>
          </a:p>
        </p:txBody>
      </p:sp>
      <p:sp>
        <p:nvSpPr>
          <p:cNvPr id="138" name="Google Shape;138;p16"/>
          <p:cNvSpPr/>
          <p:nvPr/>
        </p:nvSpPr>
        <p:spPr>
          <a:xfrm>
            <a:off x="4606826" y="4080718"/>
            <a:ext cx="3633341" cy="782910"/>
          </a:xfrm>
          <a:prstGeom prst="roundRect">
            <a:avLst>
              <a:gd fmla="val 5840" name="adj"/>
            </a:avLst>
          </a:prstGeom>
          <a:solidFill>
            <a:srgbClr val="000018">
              <a:alpha val="94901"/>
            </a:srgbClr>
          </a:solidFill>
          <a:ln cap="flat" cmpd="sng" w="9525">
            <a:solidFill>
              <a:srgbClr val="313E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6"/>
          <p:cNvSpPr/>
          <p:nvPr/>
        </p:nvSpPr>
        <p:spPr>
          <a:xfrm>
            <a:off x="4597301" y="4080718"/>
            <a:ext cx="38100" cy="782910"/>
          </a:xfrm>
          <a:prstGeom prst="roundRect">
            <a:avLst>
              <a:gd fmla="val 102558" name="adj"/>
            </a:avLst>
          </a:prstGeom>
          <a:solidFill>
            <a:srgbClr val="5A6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6"/>
          <p:cNvSpPr/>
          <p:nvPr/>
        </p:nvSpPr>
        <p:spPr>
          <a:xfrm>
            <a:off x="4737943" y="4183261"/>
            <a:ext cx="1659210" cy="14533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FD0D8"/>
              </a:buClr>
              <a:buSzPts val="900"/>
              <a:buFont typeface="Roboto Medium"/>
              <a:buNone/>
            </a:pPr>
            <a:r>
              <a:rPr b="0" i="0" lang="en-US" sz="900" u="none" cap="none" strike="noStrike">
                <a:solidFill>
                  <a:srgbClr val="CFD0D8"/>
                </a:solidFill>
                <a:latin typeface="Roboto Medium"/>
                <a:ea typeface="Roboto Medium"/>
                <a:cs typeface="Roboto Medium"/>
                <a:sym typeface="Roboto Medium"/>
              </a:rPr>
              <a:t>Persistent, Year-Round Problem</a:t>
            </a:r>
            <a:endParaRPr b="0" i="0" sz="900" u="none" cap="none" strike="noStrike"/>
          </a:p>
        </p:txBody>
      </p:sp>
      <p:sp>
        <p:nvSpPr>
          <p:cNvPr id="141" name="Google Shape;141;p16"/>
          <p:cNvSpPr/>
          <p:nvPr/>
        </p:nvSpPr>
        <p:spPr>
          <a:xfrm>
            <a:off x="4737943" y="4370412"/>
            <a:ext cx="3399681" cy="390674"/>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CFD0D8"/>
              </a:buClr>
              <a:buSzPts val="700"/>
              <a:buFont typeface="Roboto"/>
              <a:buNone/>
            </a:pPr>
            <a:r>
              <a:rPr b="0" i="0" lang="en-US" sz="700" u="none" cap="none" strike="noStrike">
                <a:solidFill>
                  <a:srgbClr val="CFD0D8"/>
                </a:solidFill>
                <a:latin typeface="Roboto"/>
                <a:ea typeface="Roboto"/>
                <a:cs typeface="Roboto"/>
                <a:sym typeface="Roboto"/>
              </a:rPr>
              <a:t>Conversion fluctuates between </a:t>
            </a:r>
            <a:r>
              <a:rPr b="1" i="0" lang="en-US" sz="700" u="none" cap="none" strike="noStrike">
                <a:solidFill>
                  <a:srgbClr val="CFD0D8"/>
                </a:solidFill>
                <a:latin typeface="Roboto"/>
                <a:ea typeface="Roboto"/>
                <a:cs typeface="Roboto"/>
                <a:sym typeface="Roboto"/>
              </a:rPr>
              <a:t>5.59% (February)</a:t>
            </a:r>
            <a:r>
              <a:rPr b="0" i="0" lang="en-US" sz="700" u="none" cap="none" strike="noStrike">
                <a:solidFill>
                  <a:srgbClr val="CFD0D8"/>
                </a:solidFill>
                <a:latin typeface="Roboto"/>
                <a:ea typeface="Roboto"/>
                <a:cs typeface="Roboto"/>
                <a:sym typeface="Roboto"/>
              </a:rPr>
              <a:t> and </a:t>
            </a:r>
            <a:r>
              <a:rPr b="1" i="0" lang="en-US" sz="700" u="none" cap="none" strike="noStrike">
                <a:solidFill>
                  <a:srgbClr val="CFD0D8"/>
                </a:solidFill>
                <a:latin typeface="Roboto"/>
                <a:ea typeface="Roboto"/>
                <a:cs typeface="Roboto"/>
                <a:sym typeface="Roboto"/>
              </a:rPr>
              <a:t>8.13% (November)</a:t>
            </a:r>
            <a:r>
              <a:rPr b="0" i="0" lang="en-US" sz="700" u="none" cap="none" strike="noStrike">
                <a:solidFill>
                  <a:srgbClr val="CFD0D8"/>
                </a:solidFill>
                <a:latin typeface="Roboto"/>
                <a:ea typeface="Roboto"/>
                <a:cs typeface="Roboto"/>
                <a:sym typeface="Roboto"/>
              </a:rPr>
              <a:t> with no worsening trend. The year-end uptick reflects seasonal shopping intent. Abandonment is a constant, not a seasonal spike.</a:t>
            </a:r>
            <a:endParaRPr b="0" i="0" sz="70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7"/>
          <p:cNvSpPr/>
          <p:nvPr/>
        </p:nvSpPr>
        <p:spPr>
          <a:xfrm>
            <a:off x="750912" y="271983"/>
            <a:ext cx="1417067" cy="168473"/>
          </a:xfrm>
          <a:prstGeom prst="roundRect">
            <a:avLst>
              <a:gd fmla="val 19328" name="adj"/>
            </a:avLst>
          </a:prstGeom>
          <a:solidFill>
            <a:srgbClr val="0F16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7"/>
          <p:cNvSpPr/>
          <p:nvPr/>
        </p:nvSpPr>
        <p:spPr>
          <a:xfrm>
            <a:off x="809030" y="301005"/>
            <a:ext cx="1758032" cy="110430"/>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CFD0D8"/>
              </a:buClr>
              <a:buSzPts val="600"/>
              <a:buFont typeface="Roboto"/>
              <a:buNone/>
            </a:pPr>
            <a:r>
              <a:rPr b="0" i="0" lang="en-US" sz="600" u="none" cap="none" strike="noStrike">
                <a:solidFill>
                  <a:srgbClr val="CFD0D8"/>
                </a:solidFill>
                <a:latin typeface="Roboto"/>
                <a:ea typeface="Roboto"/>
                <a:cs typeface="Roboto"/>
                <a:sym typeface="Roboto"/>
              </a:rPr>
              <a:t>SECTION 2 — CUSTOMER SEGMENTS</a:t>
            </a:r>
            <a:endParaRPr b="0" i="0" sz="600" u="none" cap="none" strike="noStrike"/>
          </a:p>
        </p:txBody>
      </p:sp>
      <p:sp>
        <p:nvSpPr>
          <p:cNvPr id="149" name="Google Shape;149;p17"/>
          <p:cNvSpPr/>
          <p:nvPr/>
        </p:nvSpPr>
        <p:spPr>
          <a:xfrm>
            <a:off x="750912" y="470669"/>
            <a:ext cx="4836468" cy="30286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900"/>
              <a:buFont typeface="Roboto Medium"/>
              <a:buNone/>
            </a:pPr>
            <a:r>
              <a:rPr b="0" i="0" lang="en-US" sz="1900" u="none" cap="none" strike="noStrike">
                <a:solidFill>
                  <a:srgbClr val="FFFFFF"/>
                </a:solidFill>
                <a:latin typeface="Roboto Medium"/>
                <a:ea typeface="Roboto Medium"/>
                <a:cs typeface="Roboto Medium"/>
                <a:sym typeface="Roboto Medium"/>
              </a:rPr>
              <a:t>Who Abandons Most? Segment Analysis</a:t>
            </a:r>
            <a:endParaRPr b="0" i="0" sz="1900" u="none" cap="none" strike="noStrike"/>
          </a:p>
        </p:txBody>
      </p:sp>
      <p:sp>
        <p:nvSpPr>
          <p:cNvPr id="150" name="Google Shape;150;p17"/>
          <p:cNvSpPr/>
          <p:nvPr/>
        </p:nvSpPr>
        <p:spPr>
          <a:xfrm>
            <a:off x="750912" y="962769"/>
            <a:ext cx="2203252" cy="1514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950"/>
              <a:buFont typeface="Roboto Medium"/>
              <a:buNone/>
            </a:pPr>
            <a:r>
              <a:rPr b="0" i="0" lang="en-US" sz="950" u="none" cap="none" strike="noStrike">
                <a:solidFill>
                  <a:srgbClr val="FFFFFF"/>
                </a:solidFill>
                <a:latin typeface="Roboto Medium"/>
                <a:ea typeface="Roboto Medium"/>
                <a:cs typeface="Roboto Medium"/>
                <a:sym typeface="Roboto Medium"/>
              </a:rPr>
              <a:t>First-Time vs. Returning Visitors</a:t>
            </a:r>
            <a:endParaRPr b="0" i="0" sz="950" u="none" cap="none" strike="noStrike"/>
          </a:p>
        </p:txBody>
      </p:sp>
      <p:pic>
        <p:nvPicPr>
          <p:cNvPr descr="preencoded.png" id="151" name="Google Shape;151;p17"/>
          <p:cNvPicPr preferRelativeResize="0"/>
          <p:nvPr/>
        </p:nvPicPr>
        <p:blipFill rotWithShape="1">
          <a:blip r:embed="rId3">
            <a:alphaModFix/>
          </a:blip>
          <a:srcRect b="0" l="0" r="0" t="0"/>
          <a:stretch/>
        </p:blipFill>
        <p:spPr>
          <a:xfrm>
            <a:off x="750912" y="1199331"/>
            <a:ext cx="3702844" cy="2665288"/>
          </a:xfrm>
          <a:prstGeom prst="rect">
            <a:avLst/>
          </a:prstGeom>
          <a:noFill/>
          <a:ln>
            <a:noFill/>
          </a:ln>
        </p:spPr>
      </p:pic>
      <p:sp>
        <p:nvSpPr>
          <p:cNvPr id="152" name="Google Shape;152;p17"/>
          <p:cNvSpPr/>
          <p:nvPr/>
        </p:nvSpPr>
        <p:spPr>
          <a:xfrm>
            <a:off x="750912" y="3949750"/>
            <a:ext cx="3702844" cy="276076"/>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CFD0D8"/>
              </a:buClr>
              <a:buSzPts val="750"/>
              <a:buFont typeface="Roboto"/>
              <a:buNone/>
            </a:pPr>
            <a:r>
              <a:rPr b="0" i="0" lang="en-US" sz="750" u="none" cap="none" strike="noStrike">
                <a:solidFill>
                  <a:srgbClr val="CFD0D8"/>
                </a:solidFill>
                <a:latin typeface="Roboto"/>
                <a:ea typeface="Roboto"/>
                <a:cs typeface="Roboto"/>
                <a:sym typeface="Roboto"/>
              </a:rPr>
              <a:t>A </a:t>
            </a:r>
            <a:r>
              <a:rPr b="1" i="0" lang="en-US" sz="750" u="none" cap="none" strike="noStrike">
                <a:solidFill>
                  <a:srgbClr val="CFD0D8"/>
                </a:solidFill>
                <a:latin typeface="Roboto"/>
                <a:ea typeface="Roboto"/>
                <a:cs typeface="Roboto"/>
                <a:sym typeface="Roboto"/>
              </a:rPr>
              <a:t>~10 percentage-point gap</a:t>
            </a:r>
            <a:r>
              <a:rPr b="0" i="0" lang="en-US" sz="750" u="none" cap="none" strike="noStrike">
                <a:solidFill>
                  <a:srgbClr val="CFD0D8"/>
                </a:solidFill>
                <a:latin typeface="Roboto"/>
                <a:ea typeface="Roboto"/>
                <a:cs typeface="Roboto"/>
                <a:sym typeface="Roboto"/>
              </a:rPr>
              <a:t> driven by trust and platform familiarity. First-time visitor retention must be prioritized.</a:t>
            </a:r>
            <a:endParaRPr b="0" i="0" sz="750" u="none" cap="none" strike="noStrike"/>
          </a:p>
        </p:txBody>
      </p:sp>
      <p:sp>
        <p:nvSpPr>
          <p:cNvPr id="153" name="Google Shape;153;p17"/>
          <p:cNvSpPr/>
          <p:nvPr/>
        </p:nvSpPr>
        <p:spPr>
          <a:xfrm>
            <a:off x="4694858" y="962769"/>
            <a:ext cx="2255788" cy="1514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950"/>
              <a:buFont typeface="Roboto Medium"/>
              <a:buNone/>
            </a:pPr>
            <a:r>
              <a:rPr b="0" i="0" lang="en-US" sz="950" u="none" cap="none" strike="noStrike">
                <a:solidFill>
                  <a:srgbClr val="FFFFFF"/>
                </a:solidFill>
                <a:latin typeface="Roboto Medium"/>
                <a:ea typeface="Roboto Medium"/>
                <a:cs typeface="Roboto Medium"/>
                <a:sym typeface="Roboto Medium"/>
              </a:rPr>
              <a:t>Abandonment Rate by Age Group</a:t>
            </a:r>
            <a:endParaRPr b="0" i="0" sz="950" u="none" cap="none" strike="noStrike"/>
          </a:p>
        </p:txBody>
      </p:sp>
      <p:pic>
        <p:nvPicPr>
          <p:cNvPr descr="preencoded.png" id="154" name="Google Shape;154;p17"/>
          <p:cNvPicPr preferRelativeResize="0"/>
          <p:nvPr/>
        </p:nvPicPr>
        <p:blipFill rotWithShape="1">
          <a:blip r:embed="rId4">
            <a:alphaModFix/>
          </a:blip>
          <a:srcRect b="0" l="0" r="0" t="0"/>
          <a:stretch/>
        </p:blipFill>
        <p:spPr>
          <a:xfrm>
            <a:off x="4694858" y="1199331"/>
            <a:ext cx="3702844" cy="2665288"/>
          </a:xfrm>
          <a:prstGeom prst="rect">
            <a:avLst/>
          </a:prstGeom>
          <a:noFill/>
          <a:ln>
            <a:noFill/>
          </a:ln>
        </p:spPr>
      </p:pic>
      <p:sp>
        <p:nvSpPr>
          <p:cNvPr id="155" name="Google Shape;155;p17"/>
          <p:cNvSpPr/>
          <p:nvPr/>
        </p:nvSpPr>
        <p:spPr>
          <a:xfrm>
            <a:off x="4694858" y="3949750"/>
            <a:ext cx="3702844" cy="276076"/>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CFD0D8"/>
              </a:buClr>
              <a:buSzPts val="750"/>
              <a:buFont typeface="Roboto"/>
              <a:buNone/>
            </a:pPr>
            <a:r>
              <a:rPr b="0" i="0" lang="en-US" sz="750" u="none" cap="none" strike="noStrike">
                <a:solidFill>
                  <a:srgbClr val="CFD0D8"/>
                </a:solidFill>
                <a:latin typeface="Roboto"/>
                <a:ea typeface="Roboto"/>
                <a:cs typeface="Roboto"/>
                <a:sym typeface="Roboto"/>
              </a:rPr>
              <a:t>The </a:t>
            </a:r>
            <a:r>
              <a:rPr b="1" i="0" lang="en-US" sz="750" u="none" cap="none" strike="noStrike">
                <a:solidFill>
                  <a:srgbClr val="CFD0D8"/>
                </a:solidFill>
                <a:latin typeface="Roboto"/>
                <a:ea typeface="Roboto"/>
                <a:cs typeface="Roboto"/>
                <a:sym typeface="Roboto"/>
              </a:rPr>
              <a:t>~1% spread</a:t>
            </a:r>
            <a:r>
              <a:rPr b="0" i="0" lang="en-US" sz="750" u="none" cap="none" strike="noStrike">
                <a:solidFill>
                  <a:srgbClr val="CFD0D8"/>
                </a:solidFill>
                <a:latin typeface="Roboto"/>
                <a:ea typeface="Roboto"/>
                <a:cs typeface="Roboto"/>
                <a:sym typeface="Roboto"/>
              </a:rPr>
              <a:t> across all age groups confirms age is not a meaningful differentiator — abandonment affects every demographic equally.</a:t>
            </a:r>
            <a:endParaRPr b="0" i="0" sz="750" u="none" cap="none" strike="noStrike"/>
          </a:p>
        </p:txBody>
      </p:sp>
      <p:sp>
        <p:nvSpPr>
          <p:cNvPr id="156" name="Google Shape;156;p17"/>
          <p:cNvSpPr/>
          <p:nvPr/>
        </p:nvSpPr>
        <p:spPr>
          <a:xfrm>
            <a:off x="750912" y="4379044"/>
            <a:ext cx="7642101" cy="492472"/>
          </a:xfrm>
          <a:prstGeom prst="roundRect">
            <a:avLst>
              <a:gd fmla="val 8265" name="adj"/>
            </a:avLst>
          </a:prstGeom>
          <a:solidFill>
            <a:srgbClr val="0223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7" name="Google Shape;157;p17"/>
          <p:cNvPicPr preferRelativeResize="0"/>
          <p:nvPr/>
        </p:nvPicPr>
        <p:blipFill rotWithShape="1">
          <a:blip r:embed="rId5">
            <a:alphaModFix/>
          </a:blip>
          <a:srcRect b="0" l="0" r="0" t="0"/>
          <a:stretch/>
        </p:blipFill>
        <p:spPr>
          <a:xfrm>
            <a:off x="847799" y="4515296"/>
            <a:ext cx="121072" cy="96887"/>
          </a:xfrm>
          <a:prstGeom prst="rect">
            <a:avLst/>
          </a:prstGeom>
          <a:noFill/>
          <a:ln>
            <a:noFill/>
          </a:ln>
        </p:spPr>
      </p:pic>
      <p:sp>
        <p:nvSpPr>
          <p:cNvPr id="158" name="Google Shape;158;p17"/>
          <p:cNvSpPr/>
          <p:nvPr/>
        </p:nvSpPr>
        <p:spPr>
          <a:xfrm>
            <a:off x="1065758" y="4478908"/>
            <a:ext cx="7230368" cy="276076"/>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FFFFFF"/>
              </a:buClr>
              <a:buSzPts val="750"/>
              <a:buFont typeface="Roboto"/>
              <a:buNone/>
            </a:pPr>
            <a:r>
              <a:rPr b="1" i="0" lang="en-US" sz="750" u="none" cap="none" strike="noStrike">
                <a:solidFill>
                  <a:srgbClr val="FFFFFF"/>
                </a:solidFill>
                <a:latin typeface="Roboto"/>
                <a:ea typeface="Roboto"/>
                <a:cs typeface="Roboto"/>
                <a:sym typeface="Roboto"/>
              </a:rPr>
              <a:t>Gender Analysis (Chi-Square Test, α=0.05):</a:t>
            </a:r>
            <a:r>
              <a:rPr b="0" i="0" lang="en-US" sz="750" u="none" cap="none" strike="noStrike">
                <a:solidFill>
                  <a:srgbClr val="FFFFFF"/>
                </a:solidFill>
                <a:latin typeface="Roboto"/>
                <a:ea typeface="Roboto"/>
                <a:cs typeface="Roboto"/>
                <a:sym typeface="Roboto"/>
              </a:rPr>
              <a:t> With only a 0.02% difference and a p-value of 0.5525, gender has no statistically meaningful impact on abandonment behavior. Gender-specific recovery strategies would not yield differential results.</a:t>
            </a:r>
            <a:endParaRPr b="0" i="0" sz="7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8"/>
          <p:cNvSpPr/>
          <p:nvPr/>
        </p:nvSpPr>
        <p:spPr>
          <a:xfrm>
            <a:off x="750912" y="273621"/>
            <a:ext cx="1524967" cy="168473"/>
          </a:xfrm>
          <a:prstGeom prst="roundRect">
            <a:avLst>
              <a:gd fmla="val 19328" name="adj"/>
            </a:avLst>
          </a:prstGeom>
          <a:solidFill>
            <a:srgbClr val="0F16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8"/>
          <p:cNvSpPr/>
          <p:nvPr/>
        </p:nvSpPr>
        <p:spPr>
          <a:xfrm>
            <a:off x="809030" y="302642"/>
            <a:ext cx="1865933" cy="110430"/>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CFD0D8"/>
              </a:buClr>
              <a:buSzPts val="600"/>
              <a:buFont typeface="Roboto"/>
              <a:buNone/>
            </a:pPr>
            <a:r>
              <a:rPr b="0" i="0" lang="en-US" sz="600" u="none" cap="none" strike="noStrike">
                <a:solidFill>
                  <a:srgbClr val="CFD0D8"/>
                </a:solidFill>
                <a:latin typeface="Roboto"/>
                <a:ea typeface="Roboto"/>
                <a:cs typeface="Roboto"/>
                <a:sym typeface="Roboto"/>
              </a:rPr>
              <a:t>SECTION 2–3 — GEOGRAPHY &amp; TRAFFIC</a:t>
            </a:r>
            <a:endParaRPr b="0" i="0" sz="600" u="none" cap="none" strike="noStrike"/>
          </a:p>
        </p:txBody>
      </p:sp>
      <p:sp>
        <p:nvSpPr>
          <p:cNvPr id="166" name="Google Shape;166;p18"/>
          <p:cNvSpPr/>
          <p:nvPr/>
        </p:nvSpPr>
        <p:spPr>
          <a:xfrm>
            <a:off x="750912" y="472306"/>
            <a:ext cx="6060877" cy="30286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900"/>
              <a:buFont typeface="Roboto Medium"/>
              <a:buNone/>
            </a:pPr>
            <a:r>
              <a:rPr b="0" i="0" lang="en-US" sz="1900" u="none" cap="none" strike="noStrike">
                <a:solidFill>
                  <a:srgbClr val="FFFFFF"/>
                </a:solidFill>
                <a:latin typeface="Roboto Medium"/>
                <a:ea typeface="Roboto Medium"/>
                <a:cs typeface="Roboto Medium"/>
                <a:sym typeface="Roboto Medium"/>
              </a:rPr>
              <a:t>Geographic Concentration &amp; Traffic Source Analysis</a:t>
            </a:r>
            <a:endParaRPr b="0" i="0" sz="1900" u="none" cap="none" strike="noStrike"/>
          </a:p>
        </p:txBody>
      </p:sp>
      <p:sp>
        <p:nvSpPr>
          <p:cNvPr id="167" name="Google Shape;167;p18"/>
          <p:cNvSpPr/>
          <p:nvPr/>
        </p:nvSpPr>
        <p:spPr>
          <a:xfrm>
            <a:off x="750912" y="964406"/>
            <a:ext cx="2210544" cy="1514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950"/>
              <a:buFont typeface="Roboto Medium"/>
              <a:buNone/>
            </a:pPr>
            <a:r>
              <a:rPr b="0" i="0" lang="en-US" sz="950" u="none" cap="none" strike="noStrike">
                <a:solidFill>
                  <a:srgbClr val="FFFFFF"/>
                </a:solidFill>
                <a:latin typeface="Roboto Medium"/>
                <a:ea typeface="Roboto Medium"/>
                <a:cs typeface="Roboto Medium"/>
                <a:sym typeface="Roboto Medium"/>
              </a:rPr>
              <a:t>Abandoned Sessions by Country</a:t>
            </a:r>
            <a:endParaRPr b="0" i="0" sz="950" u="none" cap="none" strike="noStrike"/>
          </a:p>
        </p:txBody>
      </p:sp>
      <p:pic>
        <p:nvPicPr>
          <p:cNvPr descr="preencoded.png" id="168" name="Google Shape;168;p18"/>
          <p:cNvPicPr preferRelativeResize="0"/>
          <p:nvPr/>
        </p:nvPicPr>
        <p:blipFill rotWithShape="1">
          <a:blip r:embed="rId3">
            <a:alphaModFix/>
          </a:blip>
          <a:srcRect b="0" l="0" r="0" t="0"/>
          <a:stretch/>
        </p:blipFill>
        <p:spPr>
          <a:xfrm>
            <a:off x="750912" y="1200969"/>
            <a:ext cx="3702844" cy="2665288"/>
          </a:xfrm>
          <a:prstGeom prst="rect">
            <a:avLst/>
          </a:prstGeom>
          <a:noFill/>
          <a:ln>
            <a:noFill/>
          </a:ln>
        </p:spPr>
      </p:pic>
      <p:sp>
        <p:nvSpPr>
          <p:cNvPr id="169" name="Google Shape;169;p18"/>
          <p:cNvSpPr/>
          <p:nvPr/>
        </p:nvSpPr>
        <p:spPr>
          <a:xfrm>
            <a:off x="4694858" y="964406"/>
            <a:ext cx="2445544" cy="1514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950"/>
              <a:buFont typeface="Roboto Medium"/>
              <a:buNone/>
            </a:pPr>
            <a:r>
              <a:rPr b="0" i="0" lang="en-US" sz="950" u="none" cap="none" strike="noStrike">
                <a:solidFill>
                  <a:srgbClr val="FFFFFF"/>
                </a:solidFill>
                <a:latin typeface="Roboto Medium"/>
                <a:ea typeface="Roboto Medium"/>
                <a:cs typeface="Roboto Medium"/>
                <a:sym typeface="Roboto Medium"/>
              </a:rPr>
              <a:t>Abandonment Rate by Traffic Source</a:t>
            </a:r>
            <a:endParaRPr b="0" i="0" sz="950" u="none" cap="none" strike="noStrike"/>
          </a:p>
        </p:txBody>
      </p:sp>
      <p:pic>
        <p:nvPicPr>
          <p:cNvPr descr="preencoded.png" id="170" name="Google Shape;170;p18"/>
          <p:cNvPicPr preferRelativeResize="0"/>
          <p:nvPr/>
        </p:nvPicPr>
        <p:blipFill rotWithShape="1">
          <a:blip r:embed="rId4">
            <a:alphaModFix/>
          </a:blip>
          <a:srcRect b="0" l="0" r="0" t="0"/>
          <a:stretch/>
        </p:blipFill>
        <p:spPr>
          <a:xfrm>
            <a:off x="4694858" y="1200969"/>
            <a:ext cx="3702844" cy="2665288"/>
          </a:xfrm>
          <a:prstGeom prst="rect">
            <a:avLst/>
          </a:prstGeom>
          <a:noFill/>
          <a:ln>
            <a:noFill/>
          </a:ln>
        </p:spPr>
      </p:pic>
      <p:sp>
        <p:nvSpPr>
          <p:cNvPr id="171" name="Google Shape;171;p18"/>
          <p:cNvSpPr/>
          <p:nvPr/>
        </p:nvSpPr>
        <p:spPr>
          <a:xfrm>
            <a:off x="750912" y="4036516"/>
            <a:ext cx="3783211" cy="833289"/>
          </a:xfrm>
          <a:prstGeom prst="roundRect">
            <a:avLst>
              <a:gd fmla="val 8230" name="adj"/>
            </a:avLst>
          </a:prstGeom>
          <a:solidFill>
            <a:srgbClr val="000018">
              <a:alpha val="94901"/>
            </a:srgbClr>
          </a:solidFill>
          <a:ln cap="flat" cmpd="sng" w="14275">
            <a:solidFill>
              <a:srgbClr val="313E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8"/>
          <p:cNvSpPr/>
          <p:nvPr/>
        </p:nvSpPr>
        <p:spPr>
          <a:xfrm>
            <a:off x="736625" y="4036516"/>
            <a:ext cx="57150" cy="833289"/>
          </a:xfrm>
          <a:prstGeom prst="roundRect">
            <a:avLst>
              <a:gd fmla="val 71221" name="adj"/>
            </a:avLst>
          </a:prstGeom>
          <a:solidFill>
            <a:srgbClr val="5A6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8"/>
          <p:cNvSpPr/>
          <p:nvPr/>
        </p:nvSpPr>
        <p:spPr>
          <a:xfrm>
            <a:off x="904949" y="4147691"/>
            <a:ext cx="1211387" cy="1514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950"/>
              <a:buFont typeface="Roboto Medium"/>
              <a:buNone/>
            </a:pPr>
            <a:r>
              <a:rPr b="0" i="0" lang="en-US" sz="950" u="none" cap="none" strike="noStrike">
                <a:solidFill>
                  <a:srgbClr val="000000"/>
                </a:solidFill>
                <a:latin typeface="Roboto Medium"/>
                <a:ea typeface="Roboto Medium"/>
                <a:cs typeface="Roboto Medium"/>
                <a:sym typeface="Roboto Medium"/>
              </a:rPr>
              <a:t>🌏</a:t>
            </a:r>
            <a:r>
              <a:rPr b="0" i="0" lang="en-US" sz="950" u="none" cap="none" strike="noStrike">
                <a:solidFill>
                  <a:srgbClr val="CFD0D8"/>
                </a:solidFill>
                <a:latin typeface="Roboto Medium"/>
                <a:ea typeface="Roboto Medium"/>
                <a:cs typeface="Roboto Medium"/>
                <a:sym typeface="Roboto Medium"/>
              </a:rPr>
              <a:t> Asian Market Gap</a:t>
            </a:r>
            <a:endParaRPr b="0" i="0" sz="950" u="none" cap="none" strike="noStrike"/>
          </a:p>
        </p:txBody>
      </p:sp>
      <p:sp>
        <p:nvSpPr>
          <p:cNvPr id="174" name="Google Shape;174;p18"/>
          <p:cNvSpPr/>
          <p:nvPr/>
        </p:nvSpPr>
        <p:spPr>
          <a:xfrm>
            <a:off x="904949" y="4344516"/>
            <a:ext cx="3517999" cy="414114"/>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CFD0D8"/>
              </a:buClr>
              <a:buSzPts val="750"/>
              <a:buFont typeface="Roboto"/>
              <a:buNone/>
            </a:pPr>
            <a:r>
              <a:rPr b="0" i="0" lang="en-US" sz="750" u="none" cap="none" strike="noStrike">
                <a:solidFill>
                  <a:srgbClr val="CFD0D8"/>
                </a:solidFill>
                <a:latin typeface="Roboto"/>
                <a:ea typeface="Roboto"/>
                <a:cs typeface="Roboto"/>
                <a:sym typeface="Roboto"/>
              </a:rPr>
              <a:t>China dominates with </a:t>
            </a:r>
            <a:r>
              <a:rPr b="1" i="0" lang="en-US" sz="750" u="none" cap="none" strike="noStrike">
                <a:solidFill>
                  <a:srgbClr val="CFD0D8"/>
                </a:solidFill>
                <a:latin typeface="Roboto"/>
                <a:ea typeface="Roboto"/>
                <a:cs typeface="Roboto"/>
                <a:sym typeface="Roboto"/>
              </a:rPr>
              <a:t>12,112 abandoned sessions</a:t>
            </a:r>
            <a:r>
              <a:rPr b="0" i="0" lang="en-US" sz="750" u="none" cap="none" strike="noStrike">
                <a:solidFill>
                  <a:srgbClr val="CFD0D8"/>
                </a:solidFill>
                <a:latin typeface="Roboto"/>
                <a:ea typeface="Roboto"/>
                <a:cs typeface="Roboto"/>
                <a:sym typeface="Roboto"/>
              </a:rPr>
              <a:t> — 1.6× more than the US. Eight of the top 10 cities are Asian (Shanghai, Beijing, Seoul). Critical gaps in localization, payment methods, or checkout UX for Asian markets.</a:t>
            </a:r>
            <a:endParaRPr b="0" i="0" sz="750" u="none" cap="none" strike="noStrike"/>
          </a:p>
        </p:txBody>
      </p:sp>
      <p:sp>
        <p:nvSpPr>
          <p:cNvPr id="175" name="Google Shape;175;p18"/>
          <p:cNvSpPr/>
          <p:nvPr/>
        </p:nvSpPr>
        <p:spPr>
          <a:xfrm>
            <a:off x="4609802" y="4036516"/>
            <a:ext cx="3783211" cy="833289"/>
          </a:xfrm>
          <a:prstGeom prst="roundRect">
            <a:avLst>
              <a:gd fmla="val 8230" name="adj"/>
            </a:avLst>
          </a:prstGeom>
          <a:solidFill>
            <a:srgbClr val="000018">
              <a:alpha val="94901"/>
            </a:srgbClr>
          </a:solidFill>
          <a:ln cap="flat" cmpd="sng" w="14275">
            <a:solidFill>
              <a:srgbClr val="313E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8"/>
          <p:cNvSpPr/>
          <p:nvPr/>
        </p:nvSpPr>
        <p:spPr>
          <a:xfrm>
            <a:off x="4595515" y="4036516"/>
            <a:ext cx="57150" cy="833289"/>
          </a:xfrm>
          <a:prstGeom prst="roundRect">
            <a:avLst>
              <a:gd fmla="val 71221" name="adj"/>
            </a:avLst>
          </a:prstGeom>
          <a:solidFill>
            <a:srgbClr val="5A6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8"/>
          <p:cNvSpPr/>
          <p:nvPr/>
        </p:nvSpPr>
        <p:spPr>
          <a:xfrm>
            <a:off x="4763839" y="4147691"/>
            <a:ext cx="1632347" cy="1514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950"/>
              <a:buFont typeface="Roboto Medium"/>
              <a:buNone/>
            </a:pPr>
            <a:r>
              <a:rPr b="0" i="0" lang="en-US" sz="950" u="none" cap="none" strike="noStrike">
                <a:solidFill>
                  <a:srgbClr val="000000"/>
                </a:solidFill>
                <a:latin typeface="Roboto Medium"/>
                <a:ea typeface="Roboto Medium"/>
                <a:cs typeface="Roboto Medium"/>
                <a:sym typeface="Roboto Medium"/>
              </a:rPr>
              <a:t>📢</a:t>
            </a:r>
            <a:r>
              <a:rPr b="0" i="0" lang="en-US" sz="950" u="none" cap="none" strike="noStrike">
                <a:solidFill>
                  <a:srgbClr val="CFD0D8"/>
                </a:solidFill>
                <a:latin typeface="Roboto Medium"/>
                <a:ea typeface="Roboto Medium"/>
                <a:cs typeface="Roboto Medium"/>
                <a:sym typeface="Roboto Medium"/>
              </a:rPr>
              <a:t> Channel-Agnostic Problem</a:t>
            </a:r>
            <a:endParaRPr b="0" i="0" sz="950" u="none" cap="none" strike="noStrike"/>
          </a:p>
        </p:txBody>
      </p:sp>
      <p:sp>
        <p:nvSpPr>
          <p:cNvPr id="178" name="Google Shape;178;p18"/>
          <p:cNvSpPr/>
          <p:nvPr/>
        </p:nvSpPr>
        <p:spPr>
          <a:xfrm>
            <a:off x="4763839" y="4344516"/>
            <a:ext cx="3517999" cy="414114"/>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CFD0D8"/>
              </a:buClr>
              <a:buSzPts val="750"/>
              <a:buFont typeface="Roboto"/>
              <a:buNone/>
            </a:pPr>
            <a:r>
              <a:rPr b="0" i="0" lang="en-US" sz="750" u="none" cap="none" strike="noStrike">
                <a:solidFill>
                  <a:srgbClr val="CFD0D8"/>
                </a:solidFill>
                <a:latin typeface="Roboto"/>
                <a:ea typeface="Roboto"/>
                <a:cs typeface="Roboto"/>
                <a:sym typeface="Roboto"/>
              </a:rPr>
              <a:t>Adwords leads at 93.22%, Organic performs best at 92.76% — but the spread is only </a:t>
            </a:r>
            <a:r>
              <a:rPr b="1" i="0" lang="en-US" sz="750" u="none" cap="none" strike="noStrike">
                <a:solidFill>
                  <a:srgbClr val="CFD0D8"/>
                </a:solidFill>
                <a:latin typeface="Roboto"/>
                <a:ea typeface="Roboto"/>
                <a:cs typeface="Roboto"/>
                <a:sym typeface="Roboto"/>
              </a:rPr>
              <a:t>~0.5%</a:t>
            </a:r>
            <a:r>
              <a:rPr b="0" i="0" lang="en-US" sz="750" u="none" cap="none" strike="noStrike">
                <a:solidFill>
                  <a:srgbClr val="CFD0D8"/>
                </a:solidFill>
                <a:latin typeface="Roboto"/>
                <a:ea typeface="Roboto"/>
                <a:cs typeface="Roboto"/>
                <a:sym typeface="Roboto"/>
              </a:rPr>
              <a:t>. All 10 pairwise Z-tests yield p-values well above 0.05. The root cause lies in the checkout experience itself, not traffic quality.</a:t>
            </a:r>
            <a:endParaRPr b="0" i="0" sz="7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9"/>
          <p:cNvSpPr/>
          <p:nvPr/>
        </p:nvSpPr>
        <p:spPr>
          <a:xfrm>
            <a:off x="750912" y="271983"/>
            <a:ext cx="1306041" cy="168473"/>
          </a:xfrm>
          <a:prstGeom prst="roundRect">
            <a:avLst>
              <a:gd fmla="val 19328" name="adj"/>
            </a:avLst>
          </a:prstGeom>
          <a:solidFill>
            <a:srgbClr val="0F16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9"/>
          <p:cNvSpPr/>
          <p:nvPr/>
        </p:nvSpPr>
        <p:spPr>
          <a:xfrm>
            <a:off x="809030" y="301005"/>
            <a:ext cx="1647006" cy="110430"/>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CFD0D8"/>
              </a:buClr>
              <a:buSzPts val="600"/>
              <a:buFont typeface="Roboto"/>
              <a:buNone/>
            </a:pPr>
            <a:r>
              <a:rPr b="0" i="0" lang="en-US" sz="600" u="none" cap="none" strike="noStrike">
                <a:solidFill>
                  <a:srgbClr val="CFD0D8"/>
                </a:solidFill>
                <a:latin typeface="Roboto"/>
                <a:ea typeface="Roboto"/>
                <a:cs typeface="Roboto"/>
                <a:sym typeface="Roboto"/>
              </a:rPr>
              <a:t>SECTION 4 — PRODUCT ANALYSIS</a:t>
            </a:r>
            <a:endParaRPr b="0" i="0" sz="600" u="none" cap="none" strike="noStrike"/>
          </a:p>
        </p:txBody>
      </p:sp>
      <p:sp>
        <p:nvSpPr>
          <p:cNvPr id="186" name="Google Shape;186;p19"/>
          <p:cNvSpPr/>
          <p:nvPr/>
        </p:nvSpPr>
        <p:spPr>
          <a:xfrm>
            <a:off x="750912" y="470669"/>
            <a:ext cx="6735142" cy="30286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900"/>
              <a:buFont typeface="Roboto Medium"/>
              <a:buNone/>
            </a:pPr>
            <a:r>
              <a:rPr b="0" i="0" lang="en-US" sz="1900" u="none" cap="none" strike="noStrike">
                <a:solidFill>
                  <a:srgbClr val="FFFFFF"/>
                </a:solidFill>
                <a:latin typeface="Roboto Medium"/>
                <a:ea typeface="Roboto Medium"/>
                <a:cs typeface="Roboto Medium"/>
                <a:sym typeface="Roboto Medium"/>
              </a:rPr>
              <a:t>Product Categories, Price Ranges &amp; Top Abandoned Items</a:t>
            </a:r>
            <a:endParaRPr b="0" i="0" sz="1900" u="none" cap="none" strike="noStrike"/>
          </a:p>
        </p:txBody>
      </p:sp>
      <p:sp>
        <p:nvSpPr>
          <p:cNvPr id="187" name="Google Shape;187;p19"/>
          <p:cNvSpPr/>
          <p:nvPr/>
        </p:nvSpPr>
        <p:spPr>
          <a:xfrm>
            <a:off x="750912" y="962769"/>
            <a:ext cx="2335560" cy="1514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950"/>
              <a:buFont typeface="Roboto Medium"/>
              <a:buNone/>
            </a:pPr>
            <a:r>
              <a:rPr b="0" i="0" lang="en-US" sz="950" u="none" cap="none" strike="noStrike">
                <a:solidFill>
                  <a:srgbClr val="FFFFFF"/>
                </a:solidFill>
                <a:latin typeface="Roboto Medium"/>
                <a:ea typeface="Roboto Medium"/>
                <a:cs typeface="Roboto Medium"/>
                <a:sym typeface="Roboto Medium"/>
              </a:rPr>
              <a:t>Abandonment Rate by Price Range</a:t>
            </a:r>
            <a:endParaRPr b="0" i="0" sz="950" u="none" cap="none" strike="noStrike"/>
          </a:p>
        </p:txBody>
      </p:sp>
      <p:pic>
        <p:nvPicPr>
          <p:cNvPr descr="preencoded.png" id="188" name="Google Shape;188;p19"/>
          <p:cNvPicPr preferRelativeResize="0"/>
          <p:nvPr/>
        </p:nvPicPr>
        <p:blipFill rotWithShape="1">
          <a:blip r:embed="rId3">
            <a:alphaModFix/>
          </a:blip>
          <a:srcRect b="0" l="0" r="0" t="0"/>
          <a:stretch/>
        </p:blipFill>
        <p:spPr>
          <a:xfrm>
            <a:off x="750912" y="1199331"/>
            <a:ext cx="3702844" cy="2665288"/>
          </a:xfrm>
          <a:prstGeom prst="rect">
            <a:avLst/>
          </a:prstGeom>
          <a:noFill/>
          <a:ln>
            <a:noFill/>
          </a:ln>
        </p:spPr>
      </p:pic>
      <p:sp>
        <p:nvSpPr>
          <p:cNvPr id="189" name="Google Shape;189;p19"/>
          <p:cNvSpPr/>
          <p:nvPr/>
        </p:nvSpPr>
        <p:spPr>
          <a:xfrm>
            <a:off x="750912" y="3949750"/>
            <a:ext cx="3702844" cy="276076"/>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CFD0D8"/>
              </a:buClr>
              <a:buSzPts val="750"/>
              <a:buFont typeface="Roboto"/>
              <a:buNone/>
            </a:pPr>
            <a:r>
              <a:rPr b="0" i="0" lang="en-US" sz="750" u="none" cap="none" strike="noStrike">
                <a:solidFill>
                  <a:srgbClr val="CFD0D8"/>
                </a:solidFill>
                <a:latin typeface="Roboto"/>
                <a:ea typeface="Roboto"/>
                <a:cs typeface="Roboto"/>
                <a:sym typeface="Roboto"/>
              </a:rPr>
              <a:t>Contrary to expectation, </a:t>
            </a:r>
            <a:r>
              <a:rPr b="1" i="0" lang="en-US" sz="750" u="none" cap="none" strike="noStrike">
                <a:solidFill>
                  <a:srgbClr val="CFD0D8"/>
                </a:solidFill>
                <a:latin typeface="Roboto"/>
                <a:ea typeface="Roboto"/>
                <a:cs typeface="Roboto"/>
                <a:sym typeface="Roboto"/>
              </a:rPr>
              <a:t>high-price products are NOT abandoned more</a:t>
            </a:r>
            <a:r>
              <a:rPr b="0" i="0" lang="en-US" sz="750" u="none" cap="none" strike="noStrike">
                <a:solidFill>
                  <a:srgbClr val="CFD0D8"/>
                </a:solidFill>
                <a:latin typeface="Roboto"/>
                <a:ea typeface="Roboto"/>
                <a:cs typeface="Roboto"/>
                <a:sym typeface="Roboto"/>
              </a:rPr>
              <a:t>. Under $20 items show the highest rate (88.07%). Price is not the primary driver.</a:t>
            </a:r>
            <a:endParaRPr b="0" i="0" sz="750" u="none" cap="none" strike="noStrike"/>
          </a:p>
        </p:txBody>
      </p:sp>
      <p:sp>
        <p:nvSpPr>
          <p:cNvPr id="190" name="Google Shape;190;p19"/>
          <p:cNvSpPr/>
          <p:nvPr/>
        </p:nvSpPr>
        <p:spPr>
          <a:xfrm>
            <a:off x="4694858" y="962769"/>
            <a:ext cx="2603078" cy="1514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950"/>
              <a:buFont typeface="Roboto Medium"/>
              <a:buNone/>
            </a:pPr>
            <a:r>
              <a:rPr b="0" i="0" lang="en-US" sz="950" u="none" cap="none" strike="noStrike">
                <a:solidFill>
                  <a:srgbClr val="FFFFFF"/>
                </a:solidFill>
                <a:latin typeface="Roboto Medium"/>
                <a:ea typeface="Roboto Medium"/>
                <a:cs typeface="Roboto Medium"/>
                <a:sym typeface="Roboto Medium"/>
              </a:rPr>
              <a:t>Top 5 Categories by Abandonment Rate</a:t>
            </a:r>
            <a:endParaRPr b="0" i="0" sz="950" u="none" cap="none" strike="noStrike"/>
          </a:p>
        </p:txBody>
      </p:sp>
      <p:pic>
        <p:nvPicPr>
          <p:cNvPr descr="preencoded.png" id="191" name="Google Shape;191;p19"/>
          <p:cNvPicPr preferRelativeResize="0"/>
          <p:nvPr/>
        </p:nvPicPr>
        <p:blipFill rotWithShape="1">
          <a:blip r:embed="rId4">
            <a:alphaModFix/>
          </a:blip>
          <a:srcRect b="0" l="0" r="0" t="0"/>
          <a:stretch/>
        </p:blipFill>
        <p:spPr>
          <a:xfrm>
            <a:off x="4694858" y="1199331"/>
            <a:ext cx="3702844" cy="2665288"/>
          </a:xfrm>
          <a:prstGeom prst="rect">
            <a:avLst/>
          </a:prstGeom>
          <a:noFill/>
          <a:ln>
            <a:noFill/>
          </a:ln>
        </p:spPr>
      </p:pic>
      <p:sp>
        <p:nvSpPr>
          <p:cNvPr id="192" name="Google Shape;192;p19"/>
          <p:cNvSpPr/>
          <p:nvPr/>
        </p:nvSpPr>
        <p:spPr>
          <a:xfrm>
            <a:off x="4694858" y="3949750"/>
            <a:ext cx="3702844" cy="276076"/>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CFD0D8"/>
              </a:buClr>
              <a:buSzPts val="750"/>
              <a:buFont typeface="Roboto"/>
              <a:buNone/>
            </a:pPr>
            <a:r>
              <a:rPr b="0" i="0" lang="en-US" sz="750" u="none" cap="none" strike="noStrike">
                <a:solidFill>
                  <a:srgbClr val="CFD0D8"/>
                </a:solidFill>
                <a:latin typeface="Roboto"/>
                <a:ea typeface="Roboto"/>
                <a:cs typeface="Roboto"/>
                <a:sym typeface="Roboto"/>
              </a:rPr>
              <a:t>The spread across all 26 categories is only </a:t>
            </a:r>
            <a:r>
              <a:rPr b="1" i="0" lang="en-US" sz="750" u="none" cap="none" strike="noStrike">
                <a:solidFill>
                  <a:srgbClr val="CFD0D8"/>
                </a:solidFill>
                <a:latin typeface="Roboto"/>
                <a:ea typeface="Roboto"/>
                <a:cs typeface="Roboto"/>
                <a:sym typeface="Roboto"/>
              </a:rPr>
              <a:t>3.4%</a:t>
            </a:r>
            <a:r>
              <a:rPr b="0" i="0" lang="en-US" sz="750" u="none" cap="none" strike="noStrike">
                <a:solidFill>
                  <a:srgbClr val="CFD0D8"/>
                </a:solidFill>
                <a:latin typeface="Roboto"/>
                <a:ea typeface="Roboto"/>
                <a:cs typeface="Roboto"/>
                <a:sym typeface="Roboto"/>
              </a:rPr>
              <a:t>. High-volume categories — Intimates, Jeans, Tops &amp; Tees — represent the largest absolute recovery opportunity.</a:t>
            </a:r>
            <a:endParaRPr b="0" i="0" sz="750" u="none" cap="none" strike="noStrike"/>
          </a:p>
        </p:txBody>
      </p:sp>
      <p:sp>
        <p:nvSpPr>
          <p:cNvPr id="193" name="Google Shape;193;p19"/>
          <p:cNvSpPr/>
          <p:nvPr/>
        </p:nvSpPr>
        <p:spPr>
          <a:xfrm>
            <a:off x="750912" y="4379044"/>
            <a:ext cx="7642101" cy="492472"/>
          </a:xfrm>
          <a:prstGeom prst="roundRect">
            <a:avLst>
              <a:gd fmla="val 8265" name="adj"/>
            </a:avLst>
          </a:prstGeom>
          <a:solidFill>
            <a:srgbClr val="0F16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4" name="Google Shape;194;p19"/>
          <p:cNvPicPr preferRelativeResize="0"/>
          <p:nvPr/>
        </p:nvPicPr>
        <p:blipFill rotWithShape="1">
          <a:blip r:embed="rId5">
            <a:alphaModFix/>
          </a:blip>
          <a:srcRect b="0" l="0" r="0" t="0"/>
          <a:stretch/>
        </p:blipFill>
        <p:spPr>
          <a:xfrm>
            <a:off x="847799" y="4515296"/>
            <a:ext cx="121072" cy="96887"/>
          </a:xfrm>
          <a:prstGeom prst="rect">
            <a:avLst/>
          </a:prstGeom>
          <a:noFill/>
          <a:ln>
            <a:noFill/>
          </a:ln>
        </p:spPr>
      </p:pic>
      <p:sp>
        <p:nvSpPr>
          <p:cNvPr id="195" name="Google Shape;195;p19"/>
          <p:cNvSpPr/>
          <p:nvPr/>
        </p:nvSpPr>
        <p:spPr>
          <a:xfrm>
            <a:off x="1065758" y="4478908"/>
            <a:ext cx="7230368" cy="276076"/>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FFFFFF"/>
              </a:buClr>
              <a:buSzPts val="750"/>
              <a:buFont typeface="Roboto"/>
              <a:buNone/>
            </a:pPr>
            <a:r>
              <a:rPr b="1" i="0" lang="en-US" sz="750" u="none" cap="none" strike="noStrike">
                <a:solidFill>
                  <a:srgbClr val="FFFFFF"/>
                </a:solidFill>
                <a:latin typeface="Roboto"/>
                <a:ea typeface="Roboto"/>
                <a:cs typeface="Roboto"/>
                <a:sym typeface="Roboto"/>
              </a:rPr>
              <a:t>Most Abandoned Products:</a:t>
            </a:r>
            <a:r>
              <a:rPr b="0" i="0" lang="en-US" sz="750" u="none" cap="none" strike="noStrike">
                <a:solidFill>
                  <a:srgbClr val="FFFFFF"/>
                </a:solidFill>
                <a:latin typeface="Roboto"/>
                <a:ea typeface="Roboto"/>
                <a:cs typeface="Roboto"/>
                <a:sym typeface="Roboto"/>
              </a:rPr>
              <a:t> Jeans appear 3 times in the top 10. Abandoned counts per product are low (20–26), indicating abandonment is spread broadly across the catalog — pointing to a </a:t>
            </a:r>
            <a:r>
              <a:rPr b="1" i="0" lang="en-US" sz="750" u="none" cap="none" strike="noStrike">
                <a:solidFill>
                  <a:srgbClr val="FFFFFF"/>
                </a:solidFill>
                <a:latin typeface="Roboto"/>
                <a:ea typeface="Roboto"/>
                <a:cs typeface="Roboto"/>
                <a:sym typeface="Roboto"/>
              </a:rPr>
              <a:t>platform-level checkout experience problem</a:t>
            </a:r>
            <a:r>
              <a:rPr b="0" i="0" lang="en-US" sz="750" u="none" cap="none" strike="noStrike">
                <a:solidFill>
                  <a:srgbClr val="FFFFFF"/>
                </a:solidFill>
                <a:latin typeface="Roboto"/>
                <a:ea typeface="Roboto"/>
                <a:cs typeface="Roboto"/>
                <a:sym typeface="Roboto"/>
              </a:rPr>
              <a:t>, not product-specific friction.</a:t>
            </a:r>
            <a:endParaRPr b="0" i="0" sz="7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0"/>
          <p:cNvSpPr/>
          <p:nvPr/>
        </p:nvSpPr>
        <p:spPr>
          <a:xfrm>
            <a:off x="426393" y="316334"/>
            <a:ext cx="1347341" cy="190649"/>
          </a:xfrm>
          <a:prstGeom prst="roundRect">
            <a:avLst>
              <a:gd fmla="val 18788" name="adj"/>
            </a:avLst>
          </a:prstGeom>
          <a:solidFill>
            <a:srgbClr val="0F16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0"/>
          <p:cNvSpPr/>
          <p:nvPr/>
        </p:nvSpPr>
        <p:spPr>
          <a:xfrm>
            <a:off x="490314" y="348258"/>
            <a:ext cx="1676698" cy="126802"/>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CFD0D8"/>
              </a:buClr>
              <a:buSzPts val="650"/>
              <a:buFont typeface="Roboto"/>
              <a:buNone/>
            </a:pPr>
            <a:r>
              <a:rPr b="0" i="0" lang="en-US" sz="650" u="none" cap="none" strike="noStrike">
                <a:solidFill>
                  <a:srgbClr val="CFD0D8"/>
                </a:solidFill>
                <a:latin typeface="Roboto"/>
                <a:ea typeface="Roboto"/>
                <a:cs typeface="Roboto"/>
                <a:sym typeface="Roboto"/>
              </a:rPr>
              <a:t>SECTION 5 — REVENUE IMPACT</a:t>
            </a:r>
            <a:endParaRPr b="0" i="0" sz="650" u="none" cap="none" strike="noStrike"/>
          </a:p>
        </p:txBody>
      </p:sp>
      <p:sp>
        <p:nvSpPr>
          <p:cNvPr id="203" name="Google Shape;203;p20"/>
          <p:cNvSpPr/>
          <p:nvPr/>
        </p:nvSpPr>
        <p:spPr>
          <a:xfrm>
            <a:off x="426393" y="543595"/>
            <a:ext cx="5954762" cy="33307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050"/>
              <a:buFont typeface="Roboto Medium"/>
              <a:buNone/>
            </a:pPr>
            <a:r>
              <a:rPr b="0" i="0" lang="en-US" sz="2050" u="none" cap="none" strike="noStrike">
                <a:solidFill>
                  <a:srgbClr val="FFFFFF"/>
                </a:solidFill>
                <a:latin typeface="Roboto Medium"/>
                <a:ea typeface="Roboto Medium"/>
                <a:cs typeface="Roboto Medium"/>
                <a:sym typeface="Roboto Medium"/>
              </a:rPr>
              <a:t>Estimated Revenue Lost to Cart Abandonment</a:t>
            </a:r>
            <a:endParaRPr b="0" i="0" sz="2050" u="none" cap="none" strike="noStrike"/>
          </a:p>
        </p:txBody>
      </p:sp>
      <p:pic>
        <p:nvPicPr>
          <p:cNvPr descr="preencoded.png" id="204" name="Google Shape;204;p20"/>
          <p:cNvPicPr preferRelativeResize="0"/>
          <p:nvPr/>
        </p:nvPicPr>
        <p:blipFill rotWithShape="1">
          <a:blip r:embed="rId3">
            <a:alphaModFix/>
          </a:blip>
          <a:srcRect b="0" l="0" r="0" t="0"/>
          <a:stretch/>
        </p:blipFill>
        <p:spPr>
          <a:xfrm>
            <a:off x="426393" y="1117029"/>
            <a:ext cx="4015606" cy="2890391"/>
          </a:xfrm>
          <a:prstGeom prst="rect">
            <a:avLst/>
          </a:prstGeom>
          <a:noFill/>
          <a:ln>
            <a:noFill/>
          </a:ln>
        </p:spPr>
      </p:pic>
      <p:sp>
        <p:nvSpPr>
          <p:cNvPr id="205" name="Google Shape;205;p20"/>
          <p:cNvSpPr/>
          <p:nvPr/>
        </p:nvSpPr>
        <p:spPr>
          <a:xfrm>
            <a:off x="4706764" y="1105644"/>
            <a:ext cx="1890638" cy="16653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000"/>
              <a:buFont typeface="Roboto Medium"/>
              <a:buNone/>
            </a:pPr>
            <a:r>
              <a:rPr b="0" i="0" lang="en-US" sz="1000" u="none" cap="none" strike="noStrike">
                <a:solidFill>
                  <a:srgbClr val="FFFFFF"/>
                </a:solidFill>
                <a:latin typeface="Roboto Medium"/>
                <a:ea typeface="Roboto Medium"/>
                <a:cs typeface="Roboto Medium"/>
                <a:sym typeface="Roboto Medium"/>
              </a:rPr>
              <a:t>Revenue Loss Summary</a:t>
            </a:r>
            <a:endParaRPr b="0" i="0" sz="1000" u="none" cap="none" strike="noStrike"/>
          </a:p>
        </p:txBody>
      </p:sp>
      <p:sp>
        <p:nvSpPr>
          <p:cNvPr id="206" name="Google Shape;206;p20"/>
          <p:cNvSpPr/>
          <p:nvPr/>
        </p:nvSpPr>
        <p:spPr>
          <a:xfrm>
            <a:off x="4706764" y="1363787"/>
            <a:ext cx="4015606" cy="317153"/>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CFD0D8"/>
              </a:buClr>
              <a:buSzPts val="800"/>
              <a:buFont typeface="Roboto"/>
              <a:buNone/>
            </a:pPr>
            <a:r>
              <a:rPr b="0" i="0" lang="en-US" sz="800" u="none" cap="none" strike="noStrike">
                <a:solidFill>
                  <a:srgbClr val="CFD0D8"/>
                </a:solidFill>
                <a:latin typeface="Roboto"/>
                <a:ea typeface="Roboto"/>
                <a:cs typeface="Roboto"/>
                <a:sym typeface="Roboto"/>
              </a:rPr>
              <a:t>Revenue lost was estimated by identifying cancelled order amounts for users who had abandoned cart sessions.</a:t>
            </a:r>
            <a:endParaRPr b="0" i="0" sz="800" u="none" cap="none" strike="noStrike"/>
          </a:p>
        </p:txBody>
      </p:sp>
      <p:sp>
        <p:nvSpPr>
          <p:cNvPr id="207" name="Google Shape;207;p20"/>
          <p:cNvSpPr/>
          <p:nvPr/>
        </p:nvSpPr>
        <p:spPr>
          <a:xfrm>
            <a:off x="4706764" y="1783928"/>
            <a:ext cx="1962001" cy="639366"/>
          </a:xfrm>
          <a:prstGeom prst="roundRect">
            <a:avLst>
              <a:gd fmla="val 7003" name="adj"/>
            </a:avLst>
          </a:prstGeom>
          <a:solidFill>
            <a:srgbClr val="182567"/>
          </a:solidFill>
          <a:ln cap="flat" cmpd="sng" w="9525">
            <a:solidFill>
              <a:srgbClr val="313E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p:nvPr/>
        </p:nvSpPr>
        <p:spPr>
          <a:xfrm>
            <a:off x="4818087" y="1895252"/>
            <a:ext cx="1332458" cy="16653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FD0D8"/>
              </a:buClr>
              <a:buSzPts val="1000"/>
              <a:buFont typeface="Roboto Medium"/>
              <a:buNone/>
            </a:pPr>
            <a:r>
              <a:rPr b="0" i="0" lang="en-US" sz="1000" u="none" cap="none" strike="noStrike">
                <a:solidFill>
                  <a:srgbClr val="CFD0D8"/>
                </a:solidFill>
                <a:latin typeface="Roboto Medium"/>
                <a:ea typeface="Roboto Medium"/>
                <a:cs typeface="Roboto Medium"/>
                <a:sym typeface="Roboto Medium"/>
              </a:rPr>
              <a:t>$756,855</a:t>
            </a:r>
            <a:endParaRPr b="0" i="0" sz="1000" u="none" cap="none" strike="noStrike"/>
          </a:p>
        </p:txBody>
      </p:sp>
      <p:sp>
        <p:nvSpPr>
          <p:cNvPr id="209" name="Google Shape;209;p20"/>
          <p:cNvSpPr/>
          <p:nvPr/>
        </p:nvSpPr>
        <p:spPr>
          <a:xfrm>
            <a:off x="4818087" y="2153394"/>
            <a:ext cx="1739354" cy="158576"/>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CFD0D8"/>
              </a:buClr>
              <a:buSzPts val="800"/>
              <a:buFont typeface="Roboto"/>
              <a:buNone/>
            </a:pPr>
            <a:r>
              <a:rPr b="0" i="0" lang="en-US" sz="800" u="none" cap="none" strike="noStrike">
                <a:solidFill>
                  <a:srgbClr val="CFD0D8"/>
                </a:solidFill>
                <a:latin typeface="Roboto"/>
                <a:ea typeface="Roboto"/>
                <a:cs typeface="Roboto"/>
                <a:sym typeface="Roboto"/>
              </a:rPr>
              <a:t>Total all-time revenue lost</a:t>
            </a:r>
            <a:endParaRPr b="0" i="0" sz="800" u="none" cap="none" strike="noStrike"/>
          </a:p>
        </p:txBody>
      </p:sp>
      <p:sp>
        <p:nvSpPr>
          <p:cNvPr id="210" name="Google Shape;210;p20"/>
          <p:cNvSpPr/>
          <p:nvPr/>
        </p:nvSpPr>
        <p:spPr>
          <a:xfrm>
            <a:off x="6760369" y="1783928"/>
            <a:ext cx="1962001" cy="639366"/>
          </a:xfrm>
          <a:prstGeom prst="roundRect">
            <a:avLst>
              <a:gd fmla="val 7003" name="adj"/>
            </a:avLst>
          </a:prstGeom>
          <a:solidFill>
            <a:srgbClr val="182567"/>
          </a:solidFill>
          <a:ln cap="flat" cmpd="sng" w="9525">
            <a:solidFill>
              <a:srgbClr val="313E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0"/>
          <p:cNvSpPr/>
          <p:nvPr/>
        </p:nvSpPr>
        <p:spPr>
          <a:xfrm>
            <a:off x="6871692" y="1895252"/>
            <a:ext cx="1332458" cy="16653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FD0D8"/>
              </a:buClr>
              <a:buSzPts val="1000"/>
              <a:buFont typeface="Roboto Medium"/>
              <a:buNone/>
            </a:pPr>
            <a:r>
              <a:rPr b="0" i="0" lang="en-US" sz="1000" u="none" cap="none" strike="noStrike">
                <a:solidFill>
                  <a:srgbClr val="CFD0D8"/>
                </a:solidFill>
                <a:latin typeface="Roboto Medium"/>
                <a:ea typeface="Roboto Medium"/>
                <a:cs typeface="Roboto Medium"/>
                <a:sym typeface="Roboto Medium"/>
              </a:rPr>
              <a:t>$12,407/mo</a:t>
            </a:r>
            <a:endParaRPr b="0" i="0" sz="1000" u="none" cap="none" strike="noStrike"/>
          </a:p>
        </p:txBody>
      </p:sp>
      <p:sp>
        <p:nvSpPr>
          <p:cNvPr id="212" name="Google Shape;212;p20"/>
          <p:cNvSpPr/>
          <p:nvPr/>
        </p:nvSpPr>
        <p:spPr>
          <a:xfrm>
            <a:off x="6871692" y="2153394"/>
            <a:ext cx="1739354" cy="158576"/>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CFD0D8"/>
              </a:buClr>
              <a:buSzPts val="800"/>
              <a:buFont typeface="Roboto"/>
              <a:buNone/>
            </a:pPr>
            <a:r>
              <a:rPr b="0" i="0" lang="en-US" sz="800" u="none" cap="none" strike="noStrike">
                <a:solidFill>
                  <a:srgbClr val="CFD0D8"/>
                </a:solidFill>
                <a:latin typeface="Roboto"/>
                <a:ea typeface="Roboto"/>
                <a:cs typeface="Roboto"/>
                <a:sym typeface="Roboto"/>
              </a:rPr>
              <a:t>Average monthly loss</a:t>
            </a:r>
            <a:endParaRPr b="0" i="0" sz="800" u="none" cap="none" strike="noStrike"/>
          </a:p>
        </p:txBody>
      </p:sp>
      <p:sp>
        <p:nvSpPr>
          <p:cNvPr id="213" name="Google Shape;213;p20"/>
          <p:cNvSpPr/>
          <p:nvPr/>
        </p:nvSpPr>
        <p:spPr>
          <a:xfrm>
            <a:off x="4706764" y="2514898"/>
            <a:ext cx="4015606" cy="639366"/>
          </a:xfrm>
          <a:prstGeom prst="roundRect">
            <a:avLst>
              <a:gd fmla="val 7003" name="adj"/>
            </a:avLst>
          </a:prstGeom>
          <a:solidFill>
            <a:srgbClr val="182567"/>
          </a:solidFill>
          <a:ln cap="flat" cmpd="sng" w="9525">
            <a:solidFill>
              <a:srgbClr val="313E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0"/>
          <p:cNvSpPr/>
          <p:nvPr/>
        </p:nvSpPr>
        <p:spPr>
          <a:xfrm>
            <a:off x="4818087" y="2626221"/>
            <a:ext cx="1332458" cy="16653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FD0D8"/>
              </a:buClr>
              <a:buSzPts val="1000"/>
              <a:buFont typeface="Roboto Medium"/>
              <a:buNone/>
            </a:pPr>
            <a:r>
              <a:rPr b="0" i="0" lang="en-US" sz="1000" u="none" cap="none" strike="noStrike">
                <a:solidFill>
                  <a:srgbClr val="CFD0D8"/>
                </a:solidFill>
                <a:latin typeface="Roboto Medium"/>
                <a:ea typeface="Roboto Medium"/>
                <a:cs typeface="Roboto Medium"/>
                <a:sym typeface="Roboto Medium"/>
              </a:rPr>
              <a:t>$2,922/wk</a:t>
            </a:r>
            <a:endParaRPr b="0" i="0" sz="1000" u="none" cap="none" strike="noStrike"/>
          </a:p>
        </p:txBody>
      </p:sp>
      <p:sp>
        <p:nvSpPr>
          <p:cNvPr id="215" name="Google Shape;215;p20"/>
          <p:cNvSpPr/>
          <p:nvPr/>
        </p:nvSpPr>
        <p:spPr>
          <a:xfrm>
            <a:off x="4818087" y="2884363"/>
            <a:ext cx="3792959" cy="158576"/>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CFD0D8"/>
              </a:buClr>
              <a:buSzPts val="800"/>
              <a:buFont typeface="Roboto"/>
              <a:buNone/>
            </a:pPr>
            <a:r>
              <a:rPr b="0" i="0" lang="en-US" sz="800" u="none" cap="none" strike="noStrike">
                <a:solidFill>
                  <a:srgbClr val="CFD0D8"/>
                </a:solidFill>
                <a:latin typeface="Roboto"/>
                <a:ea typeface="Roboto"/>
                <a:cs typeface="Roboto"/>
                <a:sym typeface="Roboto"/>
              </a:rPr>
              <a:t>Average weekly loss</a:t>
            </a:r>
            <a:endParaRPr b="0" i="0" sz="800" u="none" cap="none" strike="noStrike"/>
          </a:p>
        </p:txBody>
      </p:sp>
      <p:sp>
        <p:nvSpPr>
          <p:cNvPr id="216" name="Google Shape;216;p20"/>
          <p:cNvSpPr/>
          <p:nvPr/>
        </p:nvSpPr>
        <p:spPr>
          <a:xfrm>
            <a:off x="4706764" y="3257252"/>
            <a:ext cx="4015606" cy="475729"/>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CFD0D8"/>
              </a:buClr>
              <a:buSzPts val="800"/>
              <a:buFont typeface="Roboto"/>
              <a:buNone/>
            </a:pPr>
            <a:r>
              <a:rPr b="0" i="0" lang="en-US" sz="800" u="none" cap="none" strike="noStrike">
                <a:solidFill>
                  <a:srgbClr val="CFD0D8"/>
                </a:solidFill>
                <a:latin typeface="Roboto"/>
                <a:ea typeface="Roboto"/>
                <a:cs typeface="Roboto"/>
                <a:sym typeface="Roboto"/>
              </a:rPr>
              <a:t>Monthly losses have grown </a:t>
            </a:r>
            <a:r>
              <a:rPr b="1" i="0" lang="en-US" sz="800" u="none" cap="none" strike="noStrike">
                <a:solidFill>
                  <a:srgbClr val="CFD0D8"/>
                </a:solidFill>
                <a:latin typeface="Roboto"/>
                <a:ea typeface="Roboto"/>
                <a:cs typeface="Roboto"/>
                <a:sym typeface="Roboto"/>
              </a:rPr>
              <a:t>262×</a:t>
            </a:r>
            <a:r>
              <a:rPr b="0" i="0" lang="en-US" sz="800" u="none" cap="none" strike="noStrike">
                <a:solidFill>
                  <a:srgbClr val="CFD0D8"/>
                </a:solidFill>
                <a:latin typeface="Roboto"/>
                <a:ea typeface="Roboto"/>
                <a:cs typeface="Roboto"/>
                <a:sym typeface="Roboto"/>
              </a:rPr>
              <a:t> from $220 (Jan 2019) to $57,861 (Jan 2024), accelerating sharply as platform traffic increased. Peak weekly loss reached </a:t>
            </a:r>
            <a:r>
              <a:rPr b="1" i="0" lang="en-US" sz="800" u="none" cap="none" strike="noStrike">
                <a:solidFill>
                  <a:srgbClr val="CFD0D8"/>
                </a:solidFill>
                <a:latin typeface="Roboto"/>
                <a:ea typeface="Roboto"/>
                <a:cs typeface="Roboto"/>
                <a:sym typeface="Roboto"/>
              </a:rPr>
              <a:t>$27,850</a:t>
            </a:r>
            <a:r>
              <a:rPr b="0" i="0" lang="en-US" sz="800" u="none" cap="none" strike="noStrike">
                <a:solidFill>
                  <a:srgbClr val="CFD0D8"/>
                </a:solidFill>
                <a:latin typeface="Roboto"/>
                <a:ea typeface="Roboto"/>
                <a:cs typeface="Roboto"/>
                <a:sym typeface="Roboto"/>
              </a:rPr>
              <a:t> in Week 2, 2024.</a:t>
            </a:r>
            <a:endParaRPr b="0" i="0" sz="800" u="none" cap="none" strike="noStrike"/>
          </a:p>
        </p:txBody>
      </p:sp>
      <p:sp>
        <p:nvSpPr>
          <p:cNvPr id="217" name="Google Shape;217;p20"/>
          <p:cNvSpPr/>
          <p:nvPr/>
        </p:nvSpPr>
        <p:spPr>
          <a:xfrm>
            <a:off x="4706764" y="3835971"/>
            <a:ext cx="4015606" cy="888206"/>
          </a:xfrm>
          <a:prstGeom prst="roundRect">
            <a:avLst>
              <a:gd fmla="val 5041" name="adj"/>
            </a:avLst>
          </a:prstGeom>
          <a:solidFill>
            <a:srgbClr val="4B3F0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8" name="Google Shape;218;p20"/>
          <p:cNvPicPr preferRelativeResize="0"/>
          <p:nvPr/>
        </p:nvPicPr>
        <p:blipFill rotWithShape="1">
          <a:blip r:embed="rId4">
            <a:alphaModFix/>
          </a:blip>
          <a:srcRect b="0" l="0" r="0" t="0"/>
          <a:stretch/>
        </p:blipFill>
        <p:spPr>
          <a:xfrm>
            <a:off x="4813325" y="3990231"/>
            <a:ext cx="133201" cy="106561"/>
          </a:xfrm>
          <a:prstGeom prst="rect">
            <a:avLst/>
          </a:prstGeom>
          <a:noFill/>
          <a:ln>
            <a:noFill/>
          </a:ln>
        </p:spPr>
      </p:pic>
      <p:sp>
        <p:nvSpPr>
          <p:cNvPr id="219" name="Google Shape;219;p20"/>
          <p:cNvSpPr/>
          <p:nvPr/>
        </p:nvSpPr>
        <p:spPr>
          <a:xfrm>
            <a:off x="5053087" y="3954214"/>
            <a:ext cx="3562722" cy="634305"/>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FFFFFF"/>
              </a:buClr>
              <a:buSzPts val="800"/>
              <a:buFont typeface="Roboto"/>
              <a:buNone/>
            </a:pPr>
            <a:r>
              <a:rPr b="0" i="0" lang="en-US" sz="800" u="none" cap="none" strike="noStrike">
                <a:solidFill>
                  <a:srgbClr val="FFFFFF"/>
                </a:solidFill>
                <a:latin typeface="Roboto"/>
                <a:ea typeface="Roboto"/>
                <a:cs typeface="Roboto"/>
                <a:sym typeface="Roboto"/>
              </a:rPr>
              <a:t>This is a </a:t>
            </a:r>
            <a:r>
              <a:rPr b="1" i="0" lang="en-US" sz="800" u="none" cap="none" strike="noStrike">
                <a:solidFill>
                  <a:srgbClr val="FFFFFF"/>
                </a:solidFill>
                <a:latin typeface="Roboto"/>
                <a:ea typeface="Roboto"/>
                <a:cs typeface="Roboto"/>
                <a:sym typeface="Roboto"/>
              </a:rPr>
              <a:t>compounding problem</a:t>
            </a:r>
            <a:r>
              <a:rPr b="0" i="0" lang="en-US" sz="800" u="none" cap="none" strike="noStrike">
                <a:solidFill>
                  <a:srgbClr val="FFFFFF"/>
                </a:solidFill>
                <a:latin typeface="Roboto"/>
                <a:ea typeface="Roboto"/>
                <a:cs typeface="Roboto"/>
                <a:sym typeface="Roboto"/>
              </a:rPr>
              <a:t> — as traffic grows without improving conversion, revenue loss scales proportionally. Even a </a:t>
            </a:r>
            <a:r>
              <a:rPr b="1" i="0" lang="en-US" sz="800" u="none" cap="none" strike="noStrike">
                <a:solidFill>
                  <a:srgbClr val="FFFFFF"/>
                </a:solidFill>
                <a:latin typeface="Roboto"/>
                <a:ea typeface="Roboto"/>
                <a:cs typeface="Roboto"/>
                <a:sym typeface="Roboto"/>
              </a:rPr>
              <a:t>5% improvement</a:t>
            </a:r>
            <a:r>
              <a:rPr b="0" i="0" lang="en-US" sz="800" u="none" cap="none" strike="noStrike">
                <a:solidFill>
                  <a:srgbClr val="FFFFFF"/>
                </a:solidFill>
                <a:latin typeface="Roboto"/>
                <a:ea typeface="Roboto"/>
                <a:cs typeface="Roboto"/>
                <a:sym typeface="Roboto"/>
              </a:rPr>
              <a:t> in cart-to-purchase conversion would recover over </a:t>
            </a:r>
            <a:r>
              <a:rPr b="1" i="0" lang="en-US" sz="800" u="none" cap="none" strike="noStrike">
                <a:solidFill>
                  <a:srgbClr val="FFFFFF"/>
                </a:solidFill>
                <a:latin typeface="Roboto"/>
                <a:ea typeface="Roboto"/>
                <a:cs typeface="Roboto"/>
                <a:sym typeface="Roboto"/>
              </a:rPr>
              <a:t>$37,000 annually</a:t>
            </a:r>
            <a:r>
              <a:rPr b="0" i="0" lang="en-US" sz="800" u="none" cap="none" strike="noStrike">
                <a:solidFill>
                  <a:srgbClr val="FFFFFF"/>
                </a:solidFill>
                <a:latin typeface="Roboto"/>
                <a:ea typeface="Roboto"/>
                <a:cs typeface="Roboto"/>
                <a:sym typeface="Roboto"/>
              </a:rPr>
              <a:t> at current loss rates.</a:t>
            </a:r>
            <a:endParaRPr b="0" i="0" sz="80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1"/>
          <p:cNvSpPr/>
          <p:nvPr/>
        </p:nvSpPr>
        <p:spPr>
          <a:xfrm>
            <a:off x="2126531" y="640482"/>
            <a:ext cx="925711" cy="96738"/>
          </a:xfrm>
          <a:prstGeom prst="roundRect">
            <a:avLst>
              <a:gd fmla="val 21543" name="adj"/>
            </a:avLst>
          </a:prstGeom>
          <a:solidFill>
            <a:srgbClr val="0F16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1"/>
          <p:cNvSpPr/>
          <p:nvPr/>
        </p:nvSpPr>
        <p:spPr>
          <a:xfrm>
            <a:off x="2163738" y="659085"/>
            <a:ext cx="1308497" cy="5953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FD0D8"/>
              </a:buClr>
              <a:buSzPts val="350"/>
              <a:buFont typeface="Roboto"/>
              <a:buNone/>
            </a:pPr>
            <a:r>
              <a:rPr b="0" i="0" lang="en-US" sz="350" u="none" cap="none" strike="noStrike">
                <a:solidFill>
                  <a:srgbClr val="CFD0D8"/>
                </a:solidFill>
                <a:latin typeface="Roboto"/>
                <a:ea typeface="Roboto"/>
                <a:cs typeface="Roboto"/>
                <a:sym typeface="Roboto"/>
              </a:rPr>
              <a:t>SECTION 6 — BEHAVIORAL PATTERNS</a:t>
            </a:r>
            <a:endParaRPr b="0" i="0" sz="350" u="none" cap="none" strike="noStrike"/>
          </a:p>
        </p:txBody>
      </p:sp>
      <p:sp>
        <p:nvSpPr>
          <p:cNvPr id="227" name="Google Shape;227;p21"/>
          <p:cNvSpPr/>
          <p:nvPr/>
        </p:nvSpPr>
        <p:spPr>
          <a:xfrm>
            <a:off x="2126531" y="749573"/>
            <a:ext cx="4725293"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200"/>
              <a:buFont typeface="Roboto Medium"/>
              <a:buNone/>
            </a:pPr>
            <a:r>
              <a:rPr b="0" i="0" lang="en-US" sz="1200" u="none" cap="none" strike="noStrike">
                <a:solidFill>
                  <a:srgbClr val="FFFFFF"/>
                </a:solidFill>
                <a:latin typeface="Roboto Medium"/>
                <a:ea typeface="Roboto Medium"/>
                <a:cs typeface="Roboto Medium"/>
                <a:sym typeface="Roboto Medium"/>
              </a:rPr>
              <a:t>Behavioral Signals: Cancelled/Returned vs. Completed Orders</a:t>
            </a:r>
            <a:endParaRPr b="0" i="0" sz="1200" u="none" cap="none" strike="noStrike"/>
          </a:p>
        </p:txBody>
      </p:sp>
      <p:sp>
        <p:nvSpPr>
          <p:cNvPr id="228" name="Google Shape;228;p21"/>
          <p:cNvSpPr/>
          <p:nvPr/>
        </p:nvSpPr>
        <p:spPr>
          <a:xfrm>
            <a:off x="2126531" y="989930"/>
            <a:ext cx="5348139" cy="743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FD0D8"/>
              </a:buClr>
              <a:buSzPts val="450"/>
              <a:buFont typeface="Roboto"/>
              <a:buNone/>
            </a:pPr>
            <a:r>
              <a:rPr b="0" i="0" lang="en-US" sz="450" u="none" cap="none" strike="noStrike">
                <a:solidFill>
                  <a:srgbClr val="CFD0D8"/>
                </a:solidFill>
                <a:latin typeface="Roboto"/>
                <a:ea typeface="Roboto"/>
                <a:cs typeface="Roboto"/>
                <a:sym typeface="Roboto"/>
              </a:rPr>
              <a:t>Users were classified by whether they ever had a cancelled or returned order. Session-level behavioral metrics were compared across groups to identify early-warning signals.</a:t>
            </a:r>
            <a:endParaRPr b="0" i="0" sz="450" u="none" cap="none" strike="noStrike"/>
          </a:p>
        </p:txBody>
      </p:sp>
      <p:pic>
        <p:nvPicPr>
          <p:cNvPr descr="preencoded.png" id="229" name="Google Shape;229;p21"/>
          <p:cNvPicPr preferRelativeResize="0"/>
          <p:nvPr/>
        </p:nvPicPr>
        <p:blipFill rotWithShape="1">
          <a:blip r:embed="rId3">
            <a:alphaModFix/>
          </a:blip>
          <a:srcRect b="0" l="0" r="0" t="0"/>
          <a:stretch/>
        </p:blipFill>
        <p:spPr>
          <a:xfrm>
            <a:off x="2126531" y="1099096"/>
            <a:ext cx="4890939" cy="2738884"/>
          </a:xfrm>
          <a:prstGeom prst="rect">
            <a:avLst/>
          </a:prstGeom>
          <a:noFill/>
          <a:ln>
            <a:noFill/>
          </a:ln>
        </p:spPr>
      </p:pic>
      <p:sp>
        <p:nvSpPr>
          <p:cNvPr id="230" name="Google Shape;230;p21"/>
          <p:cNvSpPr/>
          <p:nvPr/>
        </p:nvSpPr>
        <p:spPr>
          <a:xfrm>
            <a:off x="2126531" y="3872805"/>
            <a:ext cx="1609651" cy="630213"/>
          </a:xfrm>
          <a:prstGeom prst="roundRect">
            <a:avLst>
              <a:gd fmla="val 7255" name="adj"/>
            </a:avLst>
          </a:prstGeom>
          <a:solidFill>
            <a:srgbClr val="000018">
              <a:alpha val="94901"/>
            </a:srgbClr>
          </a:solidFill>
          <a:ln cap="flat" cmpd="sng" w="9525">
            <a:solidFill>
              <a:srgbClr val="313E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1"/>
          <p:cNvSpPr/>
          <p:nvPr/>
        </p:nvSpPr>
        <p:spPr>
          <a:xfrm>
            <a:off x="2117006" y="3872805"/>
            <a:ext cx="38100" cy="630213"/>
          </a:xfrm>
          <a:prstGeom prst="roundRect">
            <a:avLst>
              <a:gd fmla="val 68372" name="adj"/>
            </a:avLst>
          </a:prstGeom>
          <a:solidFill>
            <a:srgbClr val="5A6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1"/>
          <p:cNvSpPr/>
          <p:nvPr/>
        </p:nvSpPr>
        <p:spPr>
          <a:xfrm>
            <a:off x="2226618" y="3944317"/>
            <a:ext cx="965374" cy="968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FD0D8"/>
              </a:buClr>
              <a:buSzPts val="600"/>
              <a:buFont typeface="Roboto Medium"/>
              <a:buNone/>
            </a:pPr>
            <a:r>
              <a:rPr b="0" i="0" lang="en-US" sz="600" u="none" cap="none" strike="noStrike">
                <a:solidFill>
                  <a:srgbClr val="CFD0D8"/>
                </a:solidFill>
                <a:latin typeface="Roboto Medium"/>
                <a:ea typeface="Roboto Medium"/>
                <a:cs typeface="Roboto Medium"/>
                <a:sym typeface="Roboto Medium"/>
              </a:rPr>
              <a:t>21% More Browsing Activity</a:t>
            </a:r>
            <a:endParaRPr b="0" i="0" sz="600" u="none" cap="none" strike="noStrike"/>
          </a:p>
        </p:txBody>
      </p:sp>
      <p:sp>
        <p:nvSpPr>
          <p:cNvPr id="233" name="Google Shape;233;p21"/>
          <p:cNvSpPr/>
          <p:nvPr/>
        </p:nvSpPr>
        <p:spPr>
          <a:xfrm>
            <a:off x="2226618" y="4059808"/>
            <a:ext cx="1438052" cy="37169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FD0D8"/>
              </a:buClr>
              <a:buSzPts val="450"/>
              <a:buFont typeface="Roboto"/>
              <a:buNone/>
            </a:pPr>
            <a:r>
              <a:rPr b="0" i="0" lang="en-US" sz="450" u="none" cap="none" strike="noStrike">
                <a:solidFill>
                  <a:srgbClr val="CFD0D8"/>
                </a:solidFill>
                <a:latin typeface="Roboto"/>
                <a:ea typeface="Roboto"/>
                <a:cs typeface="Roboto"/>
                <a:sym typeface="Roboto"/>
              </a:rPr>
              <a:t>Users who later cancelled or returned orders were consistently more active across every behavioral metric — </a:t>
            </a:r>
            <a:r>
              <a:rPr b="1" i="0" lang="en-US" sz="450" u="none" cap="none" strike="noStrike">
                <a:solidFill>
                  <a:srgbClr val="CFD0D8"/>
                </a:solidFill>
                <a:latin typeface="Roboto"/>
                <a:ea typeface="Roboto"/>
                <a:cs typeface="Roboto"/>
                <a:sym typeface="Roboto"/>
              </a:rPr>
              <a:t>21% more events, 23% more product views, and 22% more sessions</a:t>
            </a:r>
            <a:r>
              <a:rPr b="0" i="0" lang="en-US" sz="450" u="none" cap="none" strike="noStrike">
                <a:solidFill>
                  <a:srgbClr val="CFD0D8"/>
                </a:solidFill>
                <a:latin typeface="Roboto"/>
                <a:ea typeface="Roboto"/>
                <a:cs typeface="Roboto"/>
                <a:sym typeface="Roboto"/>
              </a:rPr>
              <a:t> than those who completed purchases successfully.</a:t>
            </a:r>
            <a:endParaRPr b="0" i="0" sz="450" u="none" cap="none" strike="noStrike"/>
          </a:p>
        </p:txBody>
      </p:sp>
      <p:sp>
        <p:nvSpPr>
          <p:cNvPr id="234" name="Google Shape;234;p21"/>
          <p:cNvSpPr/>
          <p:nvPr/>
        </p:nvSpPr>
        <p:spPr>
          <a:xfrm>
            <a:off x="3767137" y="3872805"/>
            <a:ext cx="1609651" cy="630213"/>
          </a:xfrm>
          <a:prstGeom prst="roundRect">
            <a:avLst>
              <a:gd fmla="val 7255" name="adj"/>
            </a:avLst>
          </a:prstGeom>
          <a:solidFill>
            <a:srgbClr val="000018">
              <a:alpha val="94901"/>
            </a:srgbClr>
          </a:solidFill>
          <a:ln cap="flat" cmpd="sng" w="9525">
            <a:solidFill>
              <a:srgbClr val="313E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1"/>
          <p:cNvSpPr/>
          <p:nvPr/>
        </p:nvSpPr>
        <p:spPr>
          <a:xfrm>
            <a:off x="3757613" y="3872805"/>
            <a:ext cx="38100" cy="630213"/>
          </a:xfrm>
          <a:prstGeom prst="roundRect">
            <a:avLst>
              <a:gd fmla="val 68372" name="adj"/>
            </a:avLst>
          </a:prstGeom>
          <a:solidFill>
            <a:srgbClr val="5A6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1"/>
          <p:cNvSpPr/>
          <p:nvPr/>
        </p:nvSpPr>
        <p:spPr>
          <a:xfrm>
            <a:off x="3867224" y="3944317"/>
            <a:ext cx="893564" cy="968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FD0D8"/>
              </a:buClr>
              <a:buSzPts val="600"/>
              <a:buFont typeface="Roboto Medium"/>
              <a:buNone/>
            </a:pPr>
            <a:r>
              <a:rPr b="0" i="0" lang="en-US" sz="600" u="none" cap="none" strike="noStrike">
                <a:solidFill>
                  <a:srgbClr val="CFD0D8"/>
                </a:solidFill>
                <a:latin typeface="Roboto Medium"/>
                <a:ea typeface="Roboto Medium"/>
                <a:cs typeface="Roboto Medium"/>
                <a:sym typeface="Roboto Medium"/>
              </a:rPr>
              <a:t>Leading Behavioral Signal</a:t>
            </a:r>
            <a:endParaRPr b="0" i="0" sz="600" u="none" cap="none" strike="noStrike"/>
          </a:p>
        </p:txBody>
      </p:sp>
      <p:sp>
        <p:nvSpPr>
          <p:cNvPr id="237" name="Google Shape;237;p21"/>
          <p:cNvSpPr/>
          <p:nvPr/>
        </p:nvSpPr>
        <p:spPr>
          <a:xfrm>
            <a:off x="3867224" y="4059808"/>
            <a:ext cx="1438052" cy="37169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FD0D8"/>
              </a:buClr>
              <a:buSzPts val="450"/>
              <a:buFont typeface="Roboto"/>
              <a:buNone/>
            </a:pPr>
            <a:r>
              <a:rPr b="0" i="0" lang="en-US" sz="450" u="none" cap="none" strike="noStrike">
                <a:solidFill>
                  <a:srgbClr val="CFD0D8"/>
                </a:solidFill>
                <a:latin typeface="Roboto"/>
                <a:ea typeface="Roboto"/>
                <a:cs typeface="Roboto"/>
                <a:sym typeface="Roboto"/>
              </a:rPr>
              <a:t>High browsing activity without clear purchase intent is a leading signal for future cancellations. </a:t>
            </a:r>
            <a:r>
              <a:rPr b="1" i="0" lang="en-US" sz="450" u="none" cap="none" strike="noStrike">
                <a:solidFill>
                  <a:srgbClr val="CFD0D8"/>
                </a:solidFill>
                <a:latin typeface="Roboto"/>
                <a:ea typeface="Roboto"/>
                <a:cs typeface="Roboto"/>
                <a:sym typeface="Roboto"/>
              </a:rPr>
              <a:t>Pre-purchase nudges</a:t>
            </a:r>
            <a:r>
              <a:rPr b="0" i="0" lang="en-US" sz="450" u="none" cap="none" strike="noStrike">
                <a:solidFill>
                  <a:srgbClr val="CFD0D8"/>
                </a:solidFill>
                <a:latin typeface="Roboto"/>
                <a:ea typeface="Roboto"/>
                <a:cs typeface="Roboto"/>
                <a:sym typeface="Roboto"/>
              </a:rPr>
              <a:t> — size guides, reviews, clear return policies — are critical interventions for this segment.</a:t>
            </a:r>
            <a:endParaRPr b="0" i="0" sz="450" u="none" cap="none" strike="noStrike"/>
          </a:p>
        </p:txBody>
      </p:sp>
      <p:sp>
        <p:nvSpPr>
          <p:cNvPr id="238" name="Google Shape;238;p21"/>
          <p:cNvSpPr/>
          <p:nvPr/>
        </p:nvSpPr>
        <p:spPr>
          <a:xfrm>
            <a:off x="5407744" y="3872805"/>
            <a:ext cx="1609725" cy="630213"/>
          </a:xfrm>
          <a:prstGeom prst="roundRect">
            <a:avLst>
              <a:gd fmla="val 7255" name="adj"/>
            </a:avLst>
          </a:prstGeom>
          <a:solidFill>
            <a:srgbClr val="000018">
              <a:alpha val="94901"/>
            </a:srgbClr>
          </a:solidFill>
          <a:ln cap="flat" cmpd="sng" w="9525">
            <a:solidFill>
              <a:srgbClr val="313E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1"/>
          <p:cNvSpPr/>
          <p:nvPr/>
        </p:nvSpPr>
        <p:spPr>
          <a:xfrm>
            <a:off x="5398219" y="3872805"/>
            <a:ext cx="38100" cy="630213"/>
          </a:xfrm>
          <a:prstGeom prst="roundRect">
            <a:avLst>
              <a:gd fmla="val 68372" name="adj"/>
            </a:avLst>
          </a:prstGeom>
          <a:solidFill>
            <a:srgbClr val="5A6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1"/>
          <p:cNvSpPr/>
          <p:nvPr/>
        </p:nvSpPr>
        <p:spPr>
          <a:xfrm>
            <a:off x="5507831" y="3944317"/>
            <a:ext cx="957858" cy="968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FD0D8"/>
              </a:buClr>
              <a:buSzPts val="600"/>
              <a:buFont typeface="Roboto Medium"/>
              <a:buNone/>
            </a:pPr>
            <a:r>
              <a:rPr b="0" i="0" lang="en-US" sz="600" u="none" cap="none" strike="noStrike">
                <a:solidFill>
                  <a:srgbClr val="CFD0D8"/>
                </a:solidFill>
                <a:latin typeface="Roboto Medium"/>
                <a:ea typeface="Roboto Medium"/>
                <a:cs typeface="Roboto Medium"/>
                <a:sym typeface="Roboto Medium"/>
              </a:rPr>
              <a:t>Recommended Intervention</a:t>
            </a:r>
            <a:endParaRPr b="0" i="0" sz="600" u="none" cap="none" strike="noStrike"/>
          </a:p>
        </p:txBody>
      </p:sp>
      <p:sp>
        <p:nvSpPr>
          <p:cNvPr id="241" name="Google Shape;241;p21"/>
          <p:cNvSpPr/>
          <p:nvPr/>
        </p:nvSpPr>
        <p:spPr>
          <a:xfrm>
            <a:off x="5507831" y="4059808"/>
            <a:ext cx="1438126" cy="37169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FD0D8"/>
              </a:buClr>
              <a:buSzPts val="450"/>
              <a:buFont typeface="Roboto"/>
              <a:buNone/>
            </a:pPr>
            <a:r>
              <a:rPr b="0" i="0" lang="en-US" sz="450" u="none" cap="none" strike="noStrike">
                <a:solidFill>
                  <a:srgbClr val="CFD0D8"/>
                </a:solidFill>
                <a:latin typeface="Roboto"/>
                <a:ea typeface="Roboto"/>
                <a:cs typeface="Roboto"/>
                <a:sym typeface="Roboto"/>
              </a:rPr>
              <a:t>Behavioral scoring models that flag high-browse, low-intent sessions can enable targeted interventions such as </a:t>
            </a:r>
            <a:r>
              <a:rPr b="1" i="0" lang="en-US" sz="450" u="none" cap="none" strike="noStrike">
                <a:solidFill>
                  <a:srgbClr val="CFD0D8"/>
                </a:solidFill>
                <a:latin typeface="Roboto"/>
                <a:ea typeface="Roboto"/>
                <a:cs typeface="Roboto"/>
                <a:sym typeface="Roboto"/>
              </a:rPr>
              <a:t>live chat prompts, size recommendations, or purchase confidence messaging</a:t>
            </a:r>
            <a:r>
              <a:rPr b="0" i="0" lang="en-US" sz="450" u="none" cap="none" strike="noStrike">
                <a:solidFill>
                  <a:srgbClr val="CFD0D8"/>
                </a:solidFill>
                <a:latin typeface="Roboto"/>
                <a:ea typeface="Roboto"/>
                <a:cs typeface="Roboto"/>
                <a:sym typeface="Roboto"/>
              </a:rPr>
              <a:t> before checkout.</a:t>
            </a:r>
            <a:endParaRPr b="0" i="0" sz="45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2"/>
          <p:cNvSpPr/>
          <p:nvPr/>
        </p:nvSpPr>
        <p:spPr>
          <a:xfrm>
            <a:off x="457349" y="401613"/>
            <a:ext cx="1513731" cy="209178"/>
          </a:xfrm>
          <a:prstGeom prst="roundRect">
            <a:avLst>
              <a:gd fmla="val 18369" name="adj"/>
            </a:avLst>
          </a:prstGeom>
          <a:solidFill>
            <a:srgbClr val="0F16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2"/>
          <p:cNvSpPr/>
          <p:nvPr/>
        </p:nvSpPr>
        <p:spPr>
          <a:xfrm>
            <a:off x="525959" y="435918"/>
            <a:ext cx="1833711" cy="140568"/>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700"/>
              <a:buFont typeface="Roboto"/>
              <a:buNone/>
            </a:pPr>
            <a:r>
              <a:rPr b="0" i="0" lang="en-US" sz="700" u="none" cap="none" strike="noStrike">
                <a:solidFill>
                  <a:srgbClr val="CFD0D8"/>
                </a:solidFill>
                <a:latin typeface="Roboto"/>
                <a:ea typeface="Roboto"/>
                <a:cs typeface="Roboto"/>
                <a:sym typeface="Roboto"/>
              </a:rPr>
              <a:t>STRATEGIC RECOMMENDATIONS</a:t>
            </a:r>
            <a:endParaRPr b="0" i="0" sz="700" u="none" cap="none" strike="noStrike"/>
          </a:p>
        </p:txBody>
      </p:sp>
      <p:sp>
        <p:nvSpPr>
          <p:cNvPr id="249" name="Google Shape;249;p22"/>
          <p:cNvSpPr/>
          <p:nvPr/>
        </p:nvSpPr>
        <p:spPr>
          <a:xfrm>
            <a:off x="457349" y="652909"/>
            <a:ext cx="5257205" cy="35733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250"/>
              <a:buFont typeface="Roboto Medium"/>
              <a:buNone/>
            </a:pPr>
            <a:r>
              <a:rPr b="0" i="0" lang="en-US" sz="2250" u="none" cap="none" strike="noStrike">
                <a:solidFill>
                  <a:srgbClr val="FFFFFF"/>
                </a:solidFill>
                <a:latin typeface="Roboto Medium"/>
                <a:ea typeface="Roboto Medium"/>
                <a:cs typeface="Roboto Medium"/>
                <a:sym typeface="Roboto Medium"/>
              </a:rPr>
              <a:t>Conclusions &amp; Actions for Leadership</a:t>
            </a:r>
            <a:endParaRPr b="0" i="0" sz="2250" u="none" cap="none" strike="noStrike"/>
          </a:p>
        </p:txBody>
      </p:sp>
      <p:sp>
        <p:nvSpPr>
          <p:cNvPr id="250" name="Google Shape;250;p22"/>
          <p:cNvSpPr/>
          <p:nvPr/>
        </p:nvSpPr>
        <p:spPr>
          <a:xfrm>
            <a:off x="457349" y="1168375"/>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D0D8"/>
              </a:buClr>
              <a:buSzPts val="900"/>
              <a:buFont typeface="Roboto Light"/>
              <a:buNone/>
            </a:pPr>
            <a:r>
              <a:rPr b="0" i="0" lang="en-US" sz="900" u="none" cap="none" strike="noStrike">
                <a:solidFill>
                  <a:srgbClr val="CFD0D8"/>
                </a:solidFill>
                <a:latin typeface="Roboto Light"/>
                <a:ea typeface="Roboto Light"/>
                <a:cs typeface="Roboto Light"/>
                <a:sym typeface="Roboto Light"/>
              </a:rPr>
              <a:t>01</a:t>
            </a:r>
            <a:endParaRPr b="0" i="0" sz="900" u="none" cap="none" strike="noStrike"/>
          </a:p>
        </p:txBody>
      </p:sp>
      <p:sp>
        <p:nvSpPr>
          <p:cNvPr id="251" name="Google Shape;251;p22"/>
          <p:cNvSpPr/>
          <p:nvPr/>
        </p:nvSpPr>
        <p:spPr>
          <a:xfrm>
            <a:off x="457349" y="1348383"/>
            <a:ext cx="4061966" cy="14288"/>
          </a:xfrm>
          <a:prstGeom prst="rect">
            <a:avLst/>
          </a:prstGeom>
          <a:solidFill>
            <a:srgbClr val="5A6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2"/>
          <p:cNvSpPr/>
          <p:nvPr/>
        </p:nvSpPr>
        <p:spPr>
          <a:xfrm>
            <a:off x="457349" y="1434108"/>
            <a:ext cx="2908250"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FD0D8"/>
              </a:buClr>
              <a:buSzPts val="1100"/>
              <a:buFont typeface="Roboto Medium"/>
              <a:buNone/>
            </a:pPr>
            <a:r>
              <a:rPr b="0" i="0" lang="en-US" sz="1100" u="none" cap="none" strike="noStrike">
                <a:solidFill>
                  <a:srgbClr val="CFD0D8"/>
                </a:solidFill>
                <a:latin typeface="Roboto Medium"/>
                <a:ea typeface="Roboto Medium"/>
                <a:cs typeface="Roboto Medium"/>
                <a:sym typeface="Roboto Medium"/>
              </a:rPr>
              <a:t>Fix the Checkout Experience — Not the Traffic</a:t>
            </a:r>
            <a:endParaRPr b="0" i="0" sz="1100" u="none" cap="none" strike="noStrike"/>
          </a:p>
        </p:txBody>
      </p:sp>
      <p:sp>
        <p:nvSpPr>
          <p:cNvPr id="253" name="Google Shape;253;p22"/>
          <p:cNvSpPr/>
          <p:nvPr/>
        </p:nvSpPr>
        <p:spPr>
          <a:xfrm>
            <a:off x="457349" y="1676028"/>
            <a:ext cx="4061966" cy="52752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Every dimension shows statistically identical abandonment rates. The 67.92% cart-to-purchase drop-off demands immediate </a:t>
            </a:r>
            <a:r>
              <a:rPr b="1" i="0" lang="en-US" sz="900" u="none" cap="none" strike="noStrike">
                <a:solidFill>
                  <a:srgbClr val="CFD0D8"/>
                </a:solidFill>
                <a:latin typeface="Roboto"/>
                <a:ea typeface="Roboto"/>
                <a:cs typeface="Roboto"/>
                <a:sym typeface="Roboto"/>
              </a:rPr>
              <a:t>UX, trust signal, and checkout flow improvements</a:t>
            </a:r>
            <a:r>
              <a:rPr b="0" i="0" lang="en-US" sz="900" u="none" cap="none" strike="noStrike">
                <a:solidFill>
                  <a:srgbClr val="CFD0D8"/>
                </a:solidFill>
                <a:latin typeface="Roboto"/>
                <a:ea typeface="Roboto"/>
                <a:cs typeface="Roboto"/>
                <a:sym typeface="Roboto"/>
              </a:rPr>
              <a:t>. This is not a channel, demographic, or product problem.</a:t>
            </a:r>
            <a:endParaRPr b="0" i="0" sz="900" u="none" cap="none" strike="noStrike"/>
          </a:p>
        </p:txBody>
      </p:sp>
      <p:sp>
        <p:nvSpPr>
          <p:cNvPr id="254" name="Google Shape;254;p22"/>
          <p:cNvSpPr/>
          <p:nvPr/>
        </p:nvSpPr>
        <p:spPr>
          <a:xfrm>
            <a:off x="4624685" y="1168375"/>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D0D8"/>
              </a:buClr>
              <a:buSzPts val="900"/>
              <a:buFont typeface="Roboto Light"/>
              <a:buNone/>
            </a:pPr>
            <a:r>
              <a:rPr b="0" i="0" lang="en-US" sz="900" u="none" cap="none" strike="noStrike">
                <a:solidFill>
                  <a:srgbClr val="CFD0D8"/>
                </a:solidFill>
                <a:latin typeface="Roboto Light"/>
                <a:ea typeface="Roboto Light"/>
                <a:cs typeface="Roboto Light"/>
                <a:sym typeface="Roboto Light"/>
              </a:rPr>
              <a:t>02</a:t>
            </a:r>
            <a:endParaRPr b="0" i="0" sz="900" u="none" cap="none" strike="noStrike"/>
          </a:p>
        </p:txBody>
      </p:sp>
      <p:sp>
        <p:nvSpPr>
          <p:cNvPr id="255" name="Google Shape;255;p22"/>
          <p:cNvSpPr/>
          <p:nvPr/>
        </p:nvSpPr>
        <p:spPr>
          <a:xfrm>
            <a:off x="4624685" y="1348383"/>
            <a:ext cx="4061966" cy="14288"/>
          </a:xfrm>
          <a:prstGeom prst="rect">
            <a:avLst/>
          </a:prstGeom>
          <a:solidFill>
            <a:srgbClr val="5A6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2"/>
          <p:cNvSpPr/>
          <p:nvPr/>
        </p:nvSpPr>
        <p:spPr>
          <a:xfrm>
            <a:off x="4624685" y="1434108"/>
            <a:ext cx="2481188"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FD0D8"/>
              </a:buClr>
              <a:buSzPts val="1100"/>
              <a:buFont typeface="Roboto Medium"/>
              <a:buNone/>
            </a:pPr>
            <a:r>
              <a:rPr b="0" i="0" lang="en-US" sz="1100" u="none" cap="none" strike="noStrike">
                <a:solidFill>
                  <a:srgbClr val="CFD0D8"/>
                </a:solidFill>
                <a:latin typeface="Roboto Medium"/>
                <a:ea typeface="Roboto Medium"/>
                <a:cs typeface="Roboto Medium"/>
                <a:sym typeface="Roboto Medium"/>
              </a:rPr>
              <a:t>Prioritize First-Time Visitor Conversion</a:t>
            </a:r>
            <a:endParaRPr b="0" i="0" sz="1100" u="none" cap="none" strike="noStrike"/>
          </a:p>
        </p:txBody>
      </p:sp>
      <p:sp>
        <p:nvSpPr>
          <p:cNvPr id="257" name="Google Shape;257;p22"/>
          <p:cNvSpPr/>
          <p:nvPr/>
        </p:nvSpPr>
        <p:spPr>
          <a:xfrm>
            <a:off x="4624685" y="1676028"/>
            <a:ext cx="4061966" cy="52752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The </a:t>
            </a:r>
            <a:r>
              <a:rPr b="1" i="0" lang="en-US" sz="900" u="none" cap="none" strike="noStrike">
                <a:solidFill>
                  <a:srgbClr val="CFD0D8"/>
                </a:solidFill>
                <a:latin typeface="Roboto"/>
                <a:ea typeface="Roboto"/>
                <a:cs typeface="Roboto"/>
                <a:sym typeface="Roboto"/>
              </a:rPr>
              <a:t>10-point trust gap</a:t>
            </a:r>
            <a:r>
              <a:rPr b="0" i="0" lang="en-US" sz="900" u="none" cap="none" strike="noStrike">
                <a:solidFill>
                  <a:srgbClr val="CFD0D8"/>
                </a:solidFill>
                <a:latin typeface="Roboto"/>
                <a:ea typeface="Roboto"/>
                <a:cs typeface="Roboto"/>
                <a:sym typeface="Roboto"/>
              </a:rPr>
              <a:t> (97.20% vs. 87.69%) reveals that onboarding incentives, guest checkout, social proof, and first-purchase discounts could meaningfully improve conversion.</a:t>
            </a:r>
            <a:endParaRPr b="0" i="0" sz="900" u="none" cap="none" strike="noStrike"/>
          </a:p>
        </p:txBody>
      </p:sp>
      <p:sp>
        <p:nvSpPr>
          <p:cNvPr id="258" name="Google Shape;258;p22"/>
          <p:cNvSpPr/>
          <p:nvPr/>
        </p:nvSpPr>
        <p:spPr>
          <a:xfrm>
            <a:off x="457349" y="2394645"/>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D0D8"/>
              </a:buClr>
              <a:buSzPts val="900"/>
              <a:buFont typeface="Roboto Light"/>
              <a:buNone/>
            </a:pPr>
            <a:r>
              <a:rPr b="0" i="0" lang="en-US" sz="900" u="none" cap="none" strike="noStrike">
                <a:solidFill>
                  <a:srgbClr val="CFD0D8"/>
                </a:solidFill>
                <a:latin typeface="Roboto Light"/>
                <a:ea typeface="Roboto Light"/>
                <a:cs typeface="Roboto Light"/>
                <a:sym typeface="Roboto Light"/>
              </a:rPr>
              <a:t>03</a:t>
            </a:r>
            <a:endParaRPr b="0" i="0" sz="900" u="none" cap="none" strike="noStrike"/>
          </a:p>
        </p:txBody>
      </p:sp>
      <p:sp>
        <p:nvSpPr>
          <p:cNvPr id="259" name="Google Shape;259;p22"/>
          <p:cNvSpPr/>
          <p:nvPr/>
        </p:nvSpPr>
        <p:spPr>
          <a:xfrm>
            <a:off x="457349" y="2574652"/>
            <a:ext cx="4061966" cy="14288"/>
          </a:xfrm>
          <a:prstGeom prst="rect">
            <a:avLst/>
          </a:prstGeom>
          <a:solidFill>
            <a:srgbClr val="5A6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2"/>
          <p:cNvSpPr/>
          <p:nvPr/>
        </p:nvSpPr>
        <p:spPr>
          <a:xfrm>
            <a:off x="457349" y="2660377"/>
            <a:ext cx="1939677"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FD0D8"/>
              </a:buClr>
              <a:buSzPts val="1100"/>
              <a:buFont typeface="Roboto Medium"/>
              <a:buNone/>
            </a:pPr>
            <a:r>
              <a:rPr b="0" i="0" lang="en-US" sz="1100" u="none" cap="none" strike="noStrike">
                <a:solidFill>
                  <a:srgbClr val="CFD0D8"/>
                </a:solidFill>
                <a:latin typeface="Roboto Medium"/>
                <a:ea typeface="Roboto Medium"/>
                <a:cs typeface="Roboto Medium"/>
                <a:sym typeface="Roboto Medium"/>
              </a:rPr>
              <a:t>Address the Asian Market Gap</a:t>
            </a:r>
            <a:endParaRPr b="0" i="0" sz="1100" u="none" cap="none" strike="noStrike"/>
          </a:p>
        </p:txBody>
      </p:sp>
      <p:sp>
        <p:nvSpPr>
          <p:cNvPr id="261" name="Google Shape;261;p22"/>
          <p:cNvSpPr/>
          <p:nvPr/>
        </p:nvSpPr>
        <p:spPr>
          <a:xfrm>
            <a:off x="457349" y="2902297"/>
            <a:ext cx="4061966" cy="52752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China alone accounts for </a:t>
            </a:r>
            <a:r>
              <a:rPr b="1" i="0" lang="en-US" sz="900" u="none" cap="none" strike="noStrike">
                <a:solidFill>
                  <a:srgbClr val="CFD0D8"/>
                </a:solidFill>
                <a:latin typeface="Roboto"/>
                <a:ea typeface="Roboto"/>
                <a:cs typeface="Roboto"/>
                <a:sym typeface="Roboto"/>
              </a:rPr>
              <a:t>12,112 abandoned sessions</a:t>
            </a:r>
            <a:r>
              <a:rPr b="0" i="0" lang="en-US" sz="900" u="none" cap="none" strike="noStrike">
                <a:solidFill>
                  <a:srgbClr val="CFD0D8"/>
                </a:solidFill>
                <a:latin typeface="Roboto"/>
                <a:ea typeface="Roboto"/>
                <a:cs typeface="Roboto"/>
                <a:sym typeface="Roboto"/>
              </a:rPr>
              <a:t>. A localized checkout with Alipay, WeChat Pay, local language support, and region-specific trust signals is strongly recommended.</a:t>
            </a:r>
            <a:endParaRPr b="0" i="0" sz="900" u="none" cap="none" strike="noStrike"/>
          </a:p>
        </p:txBody>
      </p:sp>
      <p:sp>
        <p:nvSpPr>
          <p:cNvPr id="262" name="Google Shape;262;p22"/>
          <p:cNvSpPr/>
          <p:nvPr/>
        </p:nvSpPr>
        <p:spPr>
          <a:xfrm>
            <a:off x="4624685" y="2394645"/>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D0D8"/>
              </a:buClr>
              <a:buSzPts val="900"/>
              <a:buFont typeface="Roboto Light"/>
              <a:buNone/>
            </a:pPr>
            <a:r>
              <a:rPr b="0" i="0" lang="en-US" sz="900" u="none" cap="none" strike="noStrike">
                <a:solidFill>
                  <a:srgbClr val="CFD0D8"/>
                </a:solidFill>
                <a:latin typeface="Roboto Light"/>
                <a:ea typeface="Roboto Light"/>
                <a:cs typeface="Roboto Light"/>
                <a:sym typeface="Roboto Light"/>
              </a:rPr>
              <a:t>04</a:t>
            </a:r>
            <a:endParaRPr b="0" i="0" sz="900" u="none" cap="none" strike="noStrike"/>
          </a:p>
        </p:txBody>
      </p:sp>
      <p:sp>
        <p:nvSpPr>
          <p:cNvPr id="263" name="Google Shape;263;p22"/>
          <p:cNvSpPr/>
          <p:nvPr/>
        </p:nvSpPr>
        <p:spPr>
          <a:xfrm>
            <a:off x="4624685" y="2574652"/>
            <a:ext cx="4061966" cy="14288"/>
          </a:xfrm>
          <a:prstGeom prst="rect">
            <a:avLst/>
          </a:prstGeom>
          <a:solidFill>
            <a:srgbClr val="5A6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2"/>
          <p:cNvSpPr/>
          <p:nvPr/>
        </p:nvSpPr>
        <p:spPr>
          <a:xfrm>
            <a:off x="4624685" y="2660377"/>
            <a:ext cx="2627188"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FD0D8"/>
              </a:buClr>
              <a:buSzPts val="1100"/>
              <a:buFont typeface="Roboto Medium"/>
              <a:buNone/>
            </a:pPr>
            <a:r>
              <a:rPr b="0" i="0" lang="en-US" sz="1100" u="none" cap="none" strike="noStrike">
                <a:solidFill>
                  <a:srgbClr val="CFD0D8"/>
                </a:solidFill>
                <a:latin typeface="Roboto Medium"/>
                <a:ea typeface="Roboto Medium"/>
                <a:cs typeface="Roboto Medium"/>
                <a:sym typeface="Roboto Medium"/>
              </a:rPr>
              <a:t>Refocus Email Campaigns on Conversion</a:t>
            </a:r>
            <a:endParaRPr b="0" i="0" sz="1100" u="none" cap="none" strike="noStrike"/>
          </a:p>
        </p:txBody>
      </p:sp>
      <p:sp>
        <p:nvSpPr>
          <p:cNvPr id="265" name="Google Shape;265;p22"/>
          <p:cNvSpPr/>
          <p:nvPr/>
        </p:nvSpPr>
        <p:spPr>
          <a:xfrm>
            <a:off x="4624685" y="2902297"/>
            <a:ext cx="4061966" cy="52752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Email drives the highest cart volume (31,225 sessions) but converts at the same low rate. </a:t>
            </a:r>
            <a:r>
              <a:rPr b="1" i="0" lang="en-US" sz="900" u="none" cap="none" strike="noStrike">
                <a:solidFill>
                  <a:srgbClr val="CFD0D8"/>
                </a:solidFill>
                <a:latin typeface="Roboto"/>
                <a:ea typeface="Roboto"/>
                <a:cs typeface="Roboto"/>
                <a:sym typeface="Roboto"/>
              </a:rPr>
              <a:t>Abandonment recovery sequences</a:t>
            </a:r>
            <a:r>
              <a:rPr b="0" i="0" lang="en-US" sz="900" u="none" cap="none" strike="noStrike">
                <a:solidFill>
                  <a:srgbClr val="CFD0D8"/>
                </a:solidFill>
                <a:latin typeface="Roboto"/>
                <a:ea typeface="Roboto"/>
                <a:cs typeface="Roboto"/>
                <a:sym typeface="Roboto"/>
              </a:rPr>
              <a:t> — personalized cart reminders, limited-time offers — represent the highest-volume recovery opportunity.</a:t>
            </a:r>
            <a:endParaRPr b="0" i="0" sz="900" u="none" cap="none" strike="noStrike"/>
          </a:p>
        </p:txBody>
      </p:sp>
      <p:sp>
        <p:nvSpPr>
          <p:cNvPr id="266" name="Google Shape;266;p22"/>
          <p:cNvSpPr/>
          <p:nvPr/>
        </p:nvSpPr>
        <p:spPr>
          <a:xfrm>
            <a:off x="457349" y="3620914"/>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D0D8"/>
              </a:buClr>
              <a:buSzPts val="900"/>
              <a:buFont typeface="Roboto Light"/>
              <a:buNone/>
            </a:pPr>
            <a:r>
              <a:rPr b="0" i="0" lang="en-US" sz="900" u="none" cap="none" strike="noStrike">
                <a:solidFill>
                  <a:srgbClr val="CFD0D8"/>
                </a:solidFill>
                <a:latin typeface="Roboto Light"/>
                <a:ea typeface="Roboto Light"/>
                <a:cs typeface="Roboto Light"/>
                <a:sym typeface="Roboto Light"/>
              </a:rPr>
              <a:t>05</a:t>
            </a:r>
            <a:endParaRPr b="0" i="0" sz="900" u="none" cap="none" strike="noStrike"/>
          </a:p>
        </p:txBody>
      </p:sp>
      <p:sp>
        <p:nvSpPr>
          <p:cNvPr id="267" name="Google Shape;267;p22"/>
          <p:cNvSpPr/>
          <p:nvPr/>
        </p:nvSpPr>
        <p:spPr>
          <a:xfrm>
            <a:off x="457349" y="3800921"/>
            <a:ext cx="4061966" cy="14288"/>
          </a:xfrm>
          <a:prstGeom prst="rect">
            <a:avLst/>
          </a:prstGeom>
          <a:solidFill>
            <a:srgbClr val="5A6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2"/>
          <p:cNvSpPr/>
          <p:nvPr/>
        </p:nvSpPr>
        <p:spPr>
          <a:xfrm>
            <a:off x="457349" y="3886646"/>
            <a:ext cx="2742084"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FD0D8"/>
              </a:buClr>
              <a:buSzPts val="1100"/>
              <a:buFont typeface="Roboto Medium"/>
              <a:buNone/>
            </a:pPr>
            <a:r>
              <a:rPr b="0" i="0" lang="en-US" sz="1100" u="none" cap="none" strike="noStrike">
                <a:solidFill>
                  <a:srgbClr val="CFD0D8"/>
                </a:solidFill>
                <a:latin typeface="Roboto Medium"/>
                <a:ea typeface="Roboto Medium"/>
                <a:cs typeface="Roboto Medium"/>
                <a:sym typeface="Roboto Medium"/>
              </a:rPr>
              <a:t>Establish Cart Conversion as a Primary KPI</a:t>
            </a:r>
            <a:endParaRPr b="0" i="0" sz="1100" u="none" cap="none" strike="noStrike"/>
          </a:p>
        </p:txBody>
      </p:sp>
      <p:sp>
        <p:nvSpPr>
          <p:cNvPr id="269" name="Google Shape;269;p22"/>
          <p:cNvSpPr/>
          <p:nvPr/>
        </p:nvSpPr>
        <p:spPr>
          <a:xfrm>
            <a:off x="457349" y="4128567"/>
            <a:ext cx="4061966" cy="52752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With total losses of </a:t>
            </a:r>
            <a:r>
              <a:rPr b="1" i="0" lang="en-US" sz="900" u="none" cap="none" strike="noStrike">
                <a:solidFill>
                  <a:srgbClr val="CFD0D8"/>
                </a:solidFill>
                <a:latin typeface="Roboto"/>
                <a:ea typeface="Roboto"/>
                <a:cs typeface="Roboto"/>
                <a:sym typeface="Roboto"/>
              </a:rPr>
              <a:t>$756,855</a:t>
            </a:r>
            <a:r>
              <a:rPr b="0" i="0" lang="en-US" sz="900" u="none" cap="none" strike="noStrike">
                <a:solidFill>
                  <a:srgbClr val="CFD0D8"/>
                </a:solidFill>
                <a:latin typeface="Roboto"/>
                <a:ea typeface="Roboto"/>
                <a:cs typeface="Roboto"/>
                <a:sym typeface="Roboto"/>
              </a:rPr>
              <a:t> and accelerating monthly trends, leadership should track cart conversion alongside total revenue. A 5% improvement recovers over </a:t>
            </a:r>
            <a:r>
              <a:rPr b="1" i="0" lang="en-US" sz="900" u="none" cap="none" strike="noStrike">
                <a:solidFill>
                  <a:srgbClr val="CFD0D8"/>
                </a:solidFill>
                <a:latin typeface="Roboto"/>
                <a:ea typeface="Roboto"/>
                <a:cs typeface="Roboto"/>
                <a:sym typeface="Roboto"/>
              </a:rPr>
              <a:t>$37,000 annually</a:t>
            </a:r>
            <a:r>
              <a:rPr b="0" i="0" lang="en-US" sz="900" u="none" cap="none" strike="noStrike">
                <a:solidFill>
                  <a:srgbClr val="CFD0D8"/>
                </a:solidFill>
                <a:latin typeface="Roboto"/>
                <a:ea typeface="Roboto"/>
                <a:cs typeface="Roboto"/>
                <a:sym typeface="Roboto"/>
              </a:rPr>
              <a:t>.</a:t>
            </a:r>
            <a:endParaRPr b="0" i="0" sz="900" u="none" cap="none" strike="noStrike"/>
          </a:p>
        </p:txBody>
      </p:sp>
      <p:sp>
        <p:nvSpPr>
          <p:cNvPr id="270" name="Google Shape;270;p22"/>
          <p:cNvSpPr/>
          <p:nvPr/>
        </p:nvSpPr>
        <p:spPr>
          <a:xfrm>
            <a:off x="4624685" y="3620914"/>
            <a:ext cx="228674" cy="1428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FD0D8"/>
              </a:buClr>
              <a:buSzPts val="900"/>
              <a:buFont typeface="Roboto Light"/>
              <a:buNone/>
            </a:pPr>
            <a:r>
              <a:rPr b="0" i="0" lang="en-US" sz="900" u="none" cap="none" strike="noStrike">
                <a:solidFill>
                  <a:srgbClr val="CFD0D8"/>
                </a:solidFill>
                <a:latin typeface="Roboto Light"/>
                <a:ea typeface="Roboto Light"/>
                <a:cs typeface="Roboto Light"/>
                <a:sym typeface="Roboto Light"/>
              </a:rPr>
              <a:t>06</a:t>
            </a:r>
            <a:endParaRPr b="0" i="0" sz="900" u="none" cap="none" strike="noStrike"/>
          </a:p>
        </p:txBody>
      </p:sp>
      <p:sp>
        <p:nvSpPr>
          <p:cNvPr id="271" name="Google Shape;271;p22"/>
          <p:cNvSpPr/>
          <p:nvPr/>
        </p:nvSpPr>
        <p:spPr>
          <a:xfrm>
            <a:off x="4624685" y="3800921"/>
            <a:ext cx="4061966" cy="14288"/>
          </a:xfrm>
          <a:prstGeom prst="rect">
            <a:avLst/>
          </a:prstGeom>
          <a:solidFill>
            <a:srgbClr val="5A6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2"/>
          <p:cNvSpPr/>
          <p:nvPr/>
        </p:nvSpPr>
        <p:spPr>
          <a:xfrm>
            <a:off x="4624685" y="3886646"/>
            <a:ext cx="2578596" cy="1786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CFD0D8"/>
              </a:buClr>
              <a:buSzPts val="1100"/>
              <a:buFont typeface="Roboto Medium"/>
              <a:buNone/>
            </a:pPr>
            <a:r>
              <a:rPr b="0" i="0" lang="en-US" sz="1100" u="none" cap="none" strike="noStrike">
                <a:solidFill>
                  <a:srgbClr val="CFD0D8"/>
                </a:solidFill>
                <a:latin typeface="Roboto Medium"/>
                <a:ea typeface="Roboto Medium"/>
                <a:cs typeface="Roboto Medium"/>
                <a:sym typeface="Roboto Medium"/>
              </a:rPr>
              <a:t>Deploy Behavioral Early-Warning Models</a:t>
            </a:r>
            <a:endParaRPr b="0" i="0" sz="1100" u="none" cap="none" strike="noStrike"/>
          </a:p>
        </p:txBody>
      </p:sp>
      <p:sp>
        <p:nvSpPr>
          <p:cNvPr id="273" name="Google Shape;273;p22"/>
          <p:cNvSpPr/>
          <p:nvPr/>
        </p:nvSpPr>
        <p:spPr>
          <a:xfrm>
            <a:off x="4624685" y="4128567"/>
            <a:ext cx="4061966" cy="527521"/>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FD0D8"/>
              </a:buClr>
              <a:buSzPts val="900"/>
              <a:buFont typeface="Roboto"/>
              <a:buNone/>
            </a:pPr>
            <a:r>
              <a:rPr b="0" i="0" lang="en-US" sz="900" u="none" cap="none" strike="noStrike">
                <a:solidFill>
                  <a:srgbClr val="CFD0D8"/>
                </a:solidFill>
                <a:latin typeface="Roboto"/>
                <a:ea typeface="Roboto"/>
                <a:cs typeface="Roboto"/>
                <a:sym typeface="Roboto"/>
              </a:rPr>
              <a:t>Users who cancel or return show </a:t>
            </a:r>
            <a:r>
              <a:rPr b="1" i="0" lang="en-US" sz="900" u="none" cap="none" strike="noStrike">
                <a:solidFill>
                  <a:srgbClr val="CFD0D8"/>
                </a:solidFill>
                <a:latin typeface="Roboto"/>
                <a:ea typeface="Roboto"/>
                <a:cs typeface="Roboto"/>
                <a:sym typeface="Roboto"/>
              </a:rPr>
              <a:t>21% more browsing activity</a:t>
            </a:r>
            <a:r>
              <a:rPr b="0" i="0" lang="en-US" sz="900" u="none" cap="none" strike="noStrike">
                <a:solidFill>
                  <a:srgbClr val="CFD0D8"/>
                </a:solidFill>
                <a:latin typeface="Roboto"/>
                <a:ea typeface="Roboto"/>
                <a:cs typeface="Roboto"/>
                <a:sym typeface="Roboto"/>
              </a:rPr>
              <a:t>. Behavioral scoring can flag high-browse, low-intent sessions for targeted pre-purchase interventions like live chat or purchase confidence messaging.</a:t>
            </a:r>
            <a:endParaRPr b="0" i="0" sz="90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